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5" d="100"/>
          <a:sy n="85" d="100"/>
        </p:scale>
        <p:origin x="-1378"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89DDC9-A9A6-4B2B-BAC9-C024DCAB6D23}" type="datetimeFigureOut">
              <a:rPr lang="en-US" smtClean="0"/>
              <a:t>11-19-2021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8A2FA3-CC97-4A91-BAD9-096F14829100}" type="slidenum">
              <a:rPr lang="en-US" smtClean="0"/>
              <a:t>‹#›</a:t>
            </a:fld>
            <a:endParaRPr lang="en-US"/>
          </a:p>
        </p:txBody>
      </p:sp>
    </p:spTree>
    <p:extLst>
      <p:ext uri="{BB962C8B-B14F-4D97-AF65-F5344CB8AC3E}">
        <p14:creationId xmlns:p14="http://schemas.microsoft.com/office/powerpoint/2010/main" val="38803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dirty="0"/>
              <a:t>Notes done slide 1</a:t>
            </a:r>
          </a:p>
        </p:txBody>
      </p:sp>
      <p:sp>
        <p:nvSpPr>
          <p:cNvPr id="4" name="Slide Number Placeholder 3"/>
          <p:cNvSpPr>
            <a:spLocks noGrp="1"/>
          </p:cNvSpPr>
          <p:nvPr>
            <p:ph type="sldNum" sz="quarter" idx="5"/>
          </p:nvPr>
        </p:nvSpPr>
        <p:spPr/>
        <p:txBody>
          <a:bodyPr/>
          <a:lstStyle/>
          <a:p>
            <a:fld id="{3593E343-F76F-441F-866C-A3726A3D35EC}" type="slidenum">
              <a:rPr lang="en-IN" smtClean="0">
                <a:solidFill>
                  <a:prstClr val="black"/>
                </a:solidFill>
              </a:rPr>
              <a:pPr/>
              <a:t>1</a:t>
            </a:fld>
            <a:endParaRPr lang="en-IN">
              <a:solidFill>
                <a:prstClr val="black"/>
              </a:solidFill>
            </a:endParaRPr>
          </a:p>
        </p:txBody>
      </p:sp>
    </p:spTree>
    <p:extLst>
      <p:ext uri="{BB962C8B-B14F-4D97-AF65-F5344CB8AC3E}">
        <p14:creationId xmlns:p14="http://schemas.microsoft.com/office/powerpoint/2010/main" val="118000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3D1C86-EFC8-4836-BBDC-9D97F178AB0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0E2E797A-2AC5-4007-BD84-435F7BACFB6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B6228147-B3CF-40A8-8C39-510B175737D3}"/>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A3206C5F-9333-44F1-BCD5-639361E4A621}"/>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AC9C5F15-5BBE-4834-B73A-89D4B5A550BB}"/>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70271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EA8F8D-0CA1-497B-B640-00F2991391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B775342-4031-4B36-A2C8-477CAB94D1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E6E9AFB-CD5A-4CCE-BD65-6A41CDADBE98}"/>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4E5EE636-47A6-4E67-981E-4E3798CA0C3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B890099A-9659-4538-9B3A-CB9E5A4E09A8}"/>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1469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1AE877-A800-48DD-B0B0-88B4732D0D45}"/>
              </a:ext>
            </a:extLst>
          </p:cNvPr>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89384AB-AF86-434A-9F72-49A4CAA9D7F2}"/>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14B5E8E-4403-4E09-9AD5-B930D596C0E7}"/>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2F3C07A3-2F9B-4BEB-98CF-9C3C3E7E9D2E}"/>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E7350969-BE52-41FF-9BCE-767CBAE14793}"/>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02264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FDEB01-D41B-46D2-960C-500A2FC019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5E4F689-1625-49DB-93AC-86DE3DA5290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F83AA85C-7F54-4A0B-8E40-5CA4361C08C5}"/>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47237085-49DE-4007-BEA2-EED654940426}"/>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6" name="Footer Placeholder 5">
            <a:extLst>
              <a:ext uri="{FF2B5EF4-FFF2-40B4-BE49-F238E27FC236}">
                <a16:creationId xmlns="" xmlns:a16="http://schemas.microsoft.com/office/drawing/2014/main" id="{3AD08811-BFBF-4ABE-BA03-59115CD097EB}"/>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 xmlns:a16="http://schemas.microsoft.com/office/drawing/2014/main" id="{20946E39-102D-4B78-9D9D-07C565FF4EE0}"/>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927999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4EEA39-8505-455E-89E1-EE96B9A7C634}"/>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198BC913-4BBA-48E4-973A-5DD318B8DBA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79EE0B4-3016-4B82-8021-13E922B2099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CCF38C9B-CD18-46F7-B8DF-D5242CCE5711}"/>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E8556FD4-0D60-4C51-A2D0-6C05C15551C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EF22B364-9C10-440D-A113-D0925B87D480}"/>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8" name="Footer Placeholder 7">
            <a:extLst>
              <a:ext uri="{FF2B5EF4-FFF2-40B4-BE49-F238E27FC236}">
                <a16:creationId xmlns="" xmlns:a16="http://schemas.microsoft.com/office/drawing/2014/main" id="{C82886F0-8851-4D64-BDAE-84D2E309BB29}"/>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 xmlns:a16="http://schemas.microsoft.com/office/drawing/2014/main" id="{554C928B-66BC-44B3-A834-7083E51C437E}"/>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91409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5D39CE-CDF9-41D5-A40D-824BD5EDAE3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CB7EBE94-999C-41CE-8D6B-CDBCB6B44E5F}"/>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4" name="Footer Placeholder 3">
            <a:extLst>
              <a:ext uri="{FF2B5EF4-FFF2-40B4-BE49-F238E27FC236}">
                <a16:creationId xmlns="" xmlns:a16="http://schemas.microsoft.com/office/drawing/2014/main" id="{517DC302-9FE9-49F0-A47C-E9C3886945C0}"/>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 xmlns:a16="http://schemas.microsoft.com/office/drawing/2014/main" id="{81815945-30CD-439C-942A-A8A53068A3D2}"/>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523098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94FCA8D-4A4F-4E85-9870-B9FF4B11DFAF}"/>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3" name="Footer Placeholder 2">
            <a:extLst>
              <a:ext uri="{FF2B5EF4-FFF2-40B4-BE49-F238E27FC236}">
                <a16:creationId xmlns="" xmlns:a16="http://schemas.microsoft.com/office/drawing/2014/main" id="{A1CF4E51-FC67-44B2-9491-E04894070116}"/>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 xmlns:a16="http://schemas.microsoft.com/office/drawing/2014/main" id="{CA9B936A-2C36-44C8-AD90-DFE53C166756}"/>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169964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5417CA-7C40-46C2-803D-ACF52C27AE69}"/>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E7B4E06-CB1D-462D-A00D-D117671F603C}"/>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284D522C-7500-43D8-BCB1-C607073ECB99}"/>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6579DDD-284D-4000-9756-56B911C5A5D5}"/>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6" name="Footer Placeholder 5">
            <a:extLst>
              <a:ext uri="{FF2B5EF4-FFF2-40B4-BE49-F238E27FC236}">
                <a16:creationId xmlns="" xmlns:a16="http://schemas.microsoft.com/office/drawing/2014/main" id="{CD45C62A-C937-480D-BF03-94FB4CF06390}"/>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 xmlns:a16="http://schemas.microsoft.com/office/drawing/2014/main" id="{602C0FE5-DDB1-4820-970D-24706D802DAA}"/>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147445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4796D0-351F-4B0B-8287-A5E6D2D157BF}"/>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AF2A82DB-8644-4536-BF10-3C05B009EEED}"/>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1410F68C-BC62-49CF-86B2-C2FF67E92CDE}"/>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844FAF3-AEAA-4C43-AFD2-8104EDE13600}"/>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6" name="Footer Placeholder 5">
            <a:extLst>
              <a:ext uri="{FF2B5EF4-FFF2-40B4-BE49-F238E27FC236}">
                <a16:creationId xmlns="" xmlns:a16="http://schemas.microsoft.com/office/drawing/2014/main" id="{66817AA3-78DF-4324-988B-80932DDF1A7D}"/>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 xmlns:a16="http://schemas.microsoft.com/office/drawing/2014/main" id="{16B01587-7BA0-4BF2-BF14-831D6F1A21AB}"/>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5740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462E51-BC29-4292-95C7-461B232A3F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0BB4EB7-9F15-48E5-8FDC-D551976FA4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B4AFF2D-DE8B-42B8-B5D8-E5E2C80FFAF6}"/>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FAD63425-2E55-44A3-85B5-580BDEC8DEBF}"/>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1F2016BA-00A2-49E9-84D9-354500D17861}"/>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027755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147196D-F44C-4DAD-BA3D-F2B10CCCDC57}"/>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B6F86C94-F919-48FD-A7C2-15A0BD67EA6C}"/>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47A7EBB-5DB8-4ED2-AA42-194BE7DB6898}"/>
              </a:ext>
            </a:extLst>
          </p:cNvPr>
          <p:cNvSpPr>
            <a:spLocks noGrp="1"/>
          </p:cNvSpPr>
          <p:nvPr>
            <p:ph type="dt" sz="half" idx="10"/>
          </p:nvPr>
        </p:nvSpPr>
        <p:spPr/>
        <p:txBody>
          <a:body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7AE3E22C-693D-4789-9968-5E8BA0A20B88}"/>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D8947B01-31BF-465F-A3E2-D34462B057EF}"/>
              </a:ext>
            </a:extLst>
          </p:cNvPr>
          <p:cNvSpPr>
            <a:spLocks noGrp="1"/>
          </p:cNvSpPr>
          <p:nvPr>
            <p:ph type="sldNum" sz="quarter" idx="12"/>
          </p:nvPr>
        </p:nvSpPr>
        <p:spPr/>
        <p:txBody>
          <a:body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75690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DADAA90C-A9FD-4879-89B9-C0264CC4975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7788F18-63E8-494C-87E6-2469719D206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5A65D45-CF35-4EE9-B4B1-97ED539938F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D15C38-27D6-44FE-8661-66200935A02D}" type="datetimeFigureOut">
              <a:rPr lang="en-IN" smtClean="0">
                <a:solidFill>
                  <a:prstClr val="black">
                    <a:tint val="75000"/>
                  </a:prstClr>
                </a:solidFill>
              </a:rPr>
              <a:pPr/>
              <a:t>19-11-2021</a:t>
            </a:fld>
            <a:endParaRPr lang="en-IN">
              <a:solidFill>
                <a:prstClr val="black">
                  <a:tint val="75000"/>
                </a:prstClr>
              </a:solidFill>
            </a:endParaRPr>
          </a:p>
        </p:txBody>
      </p:sp>
      <p:sp>
        <p:nvSpPr>
          <p:cNvPr id="5" name="Footer Placeholder 4">
            <a:extLst>
              <a:ext uri="{FF2B5EF4-FFF2-40B4-BE49-F238E27FC236}">
                <a16:creationId xmlns="" xmlns:a16="http://schemas.microsoft.com/office/drawing/2014/main" id="{5B70AA7E-B331-40C2-91BE-365836062BA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a:extLst>
              <a:ext uri="{FF2B5EF4-FFF2-40B4-BE49-F238E27FC236}">
                <a16:creationId xmlns="" xmlns:a16="http://schemas.microsoft.com/office/drawing/2014/main" id="{401F8130-834C-41B0-A63A-C0209F5F177E}"/>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E49223-3265-4FB9-9EDE-5B573E169E0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22703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616004-EFF9-4E31-8368-7E2959C92BE1}"/>
              </a:ext>
            </a:extLst>
          </p:cNvPr>
          <p:cNvSpPr>
            <a:spLocks noGrp="1"/>
          </p:cNvSpPr>
          <p:nvPr>
            <p:ph type="ctrTitle"/>
          </p:nvPr>
        </p:nvSpPr>
        <p:spPr>
          <a:xfrm>
            <a:off x="79248" y="1752600"/>
            <a:ext cx="9067800" cy="3048000"/>
          </a:xfrm>
        </p:spPr>
        <p:txBody>
          <a:bodyPr>
            <a:noAutofit/>
          </a:bodyPr>
          <a:lstStyle/>
          <a:p>
            <a:r>
              <a:rPr lang="en-US" sz="2400" b="0" i="0" dirty="0" smtClean="0">
                <a:solidFill>
                  <a:srgbClr val="666666"/>
                </a:solidFill>
                <a:effectLst/>
                <a:latin typeface="Roboto" panose="02000000000000000000" pitchFamily="2" charset="0"/>
              </a:rPr>
              <a:t/>
            </a:r>
            <a:br>
              <a:rPr lang="en-US" sz="2400" b="0" i="0" dirty="0" smtClean="0">
                <a:solidFill>
                  <a:srgbClr val="666666"/>
                </a:solidFill>
                <a:effectLst/>
                <a:latin typeface="Roboto" panose="02000000000000000000" pitchFamily="2" charset="0"/>
              </a:rPr>
            </a:br>
            <a:r>
              <a:rPr lang="en-US" sz="2400" dirty="0">
                <a:solidFill>
                  <a:srgbClr val="666666"/>
                </a:solidFill>
                <a:latin typeface="Roboto" panose="02000000000000000000" pitchFamily="2" charset="0"/>
              </a:rPr>
              <a:t/>
            </a:r>
            <a:br>
              <a:rPr lang="en-US" sz="2400" dirty="0">
                <a:solidFill>
                  <a:srgbClr val="666666"/>
                </a:solidFill>
                <a:latin typeface="Roboto" panose="02000000000000000000" pitchFamily="2" charset="0"/>
              </a:rPr>
            </a:br>
            <a:r>
              <a:rPr lang="en-US" sz="2400" b="0" i="0" dirty="0" smtClean="0">
                <a:solidFill>
                  <a:srgbClr val="666666"/>
                </a:solidFill>
                <a:effectLst/>
                <a:latin typeface="Roboto" panose="02000000000000000000" pitchFamily="2" charset="0"/>
              </a:rPr>
              <a:t>This </a:t>
            </a:r>
            <a:r>
              <a:rPr lang="en-US" sz="2400" b="0" i="0" dirty="0">
                <a:solidFill>
                  <a:srgbClr val="666666"/>
                </a:solidFill>
                <a:effectLst/>
                <a:latin typeface="Roboto" panose="02000000000000000000" pitchFamily="2" charset="0"/>
              </a:rPr>
              <a:t>presentation equips professionals familiar with Amazon Web Services (AWS) with the key concepts required to get started with Google Cloud. The presentation compares Google Cloud with AWS and highlights the similarities and differences between the two. In addition, </a:t>
            </a:r>
            <a:r>
              <a:rPr lang="en-US" sz="2400" dirty="0">
                <a:solidFill>
                  <a:srgbClr val="666666"/>
                </a:solidFill>
                <a:latin typeface="Roboto" panose="02000000000000000000" pitchFamily="2" charset="0"/>
              </a:rPr>
              <a:t> presentation </a:t>
            </a:r>
            <a:r>
              <a:rPr lang="en-US" sz="2400" b="0" i="0" dirty="0">
                <a:solidFill>
                  <a:srgbClr val="666666"/>
                </a:solidFill>
                <a:effectLst/>
                <a:latin typeface="Roboto" panose="02000000000000000000" pitchFamily="2" charset="0"/>
              </a:rPr>
              <a:t>provides mappings of AWS concepts and terminology to the corresponding products, concepts, and terminology on Google Cloud.</a:t>
            </a:r>
            <a:br>
              <a:rPr lang="en-US" sz="2400" b="0" i="0" dirty="0">
                <a:solidFill>
                  <a:srgbClr val="666666"/>
                </a:solidFill>
                <a:effectLst/>
                <a:latin typeface="Roboto" panose="02000000000000000000" pitchFamily="2" charset="0"/>
              </a:rPr>
            </a:br>
            <a:r>
              <a:rPr lang="en-US" sz="2000" b="0" i="0" dirty="0">
                <a:solidFill>
                  <a:srgbClr val="666666"/>
                </a:solidFill>
                <a:effectLst/>
                <a:latin typeface="Roboto" panose="02000000000000000000" pitchFamily="2" charset="0"/>
              </a:rPr>
              <a:t/>
            </a:r>
            <a:br>
              <a:rPr lang="en-US" sz="2000" b="0" i="0" dirty="0">
                <a:solidFill>
                  <a:srgbClr val="666666"/>
                </a:solidFill>
                <a:effectLst/>
                <a:latin typeface="Roboto" panose="02000000000000000000" pitchFamily="2" charset="0"/>
              </a:rPr>
            </a:br>
            <a:endParaRPr lang="en-IN" sz="2000" dirty="0">
              <a:solidFill>
                <a:srgbClr val="666666"/>
              </a:solidFill>
            </a:endParaRPr>
          </a:p>
        </p:txBody>
      </p:sp>
    </p:spTree>
    <p:extLst>
      <p:ext uri="{BB962C8B-B14F-4D97-AF65-F5344CB8AC3E}">
        <p14:creationId xmlns:p14="http://schemas.microsoft.com/office/powerpoint/2010/main" val="27298887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9144000" cy="4572000"/>
          </a:xfrm>
          <a:prstGeom prst="rect">
            <a:avLst/>
          </a:prstGeom>
        </p:spPr>
      </p:pic>
    </p:spTree>
    <p:extLst>
      <p:ext uri="{BB962C8B-B14F-4D97-AF65-F5344CB8AC3E}">
        <p14:creationId xmlns:p14="http://schemas.microsoft.com/office/powerpoint/2010/main" val="2751722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4967">
            <a:extLst>
              <a:ext uri="{FF2B5EF4-FFF2-40B4-BE49-F238E27FC236}">
                <a16:creationId xmlns="" xmlns:a16="http://schemas.microsoft.com/office/drawing/2014/main" id="{E160CF4A-1F64-49AE-8CD0-0860AD300116}"/>
              </a:ext>
            </a:extLst>
          </p:cNvPr>
          <p:cNvSpPr/>
          <p:nvPr/>
        </p:nvSpPr>
        <p:spPr>
          <a:xfrm>
            <a:off x="228600" y="179338"/>
            <a:ext cx="8839200" cy="471947"/>
          </a:xfrm>
          <a:prstGeom prst="roundRect">
            <a:avLst>
              <a:gd name="adj" fmla="val 1674"/>
            </a:avLst>
          </a:prstGeom>
          <a:solidFill>
            <a:srgbClr val="002060"/>
          </a:solidFill>
          <a:ln>
            <a:noFill/>
          </a:ln>
          <a:effectLst>
            <a:outerShdw blurRad="38100" dist="38100" dir="5400000" sx="99000" sy="99000" algn="ctr" rotWithShape="0">
              <a:srgbClr val="000000">
                <a:alpha val="15690"/>
              </a:srgbClr>
            </a:outerShdw>
          </a:effectLst>
        </p:spPr>
        <p:txBody>
          <a:bodyPr lIns="457200" tIns="64008" rIns="0" bIns="0" anchor="t" anchorCtr="0">
            <a:noAutofit/>
          </a:bodyPr>
          <a:lstStyle/>
          <a:p>
            <a:pPr marL="0" marR="0" lvl="0" indent="0" rtl="0">
              <a:lnSpc>
                <a:spcPct val="100000"/>
              </a:lnSpc>
              <a:spcBef>
                <a:spcPts val="500"/>
              </a:spcBef>
              <a:spcAft>
                <a:spcPts val="0"/>
              </a:spcAft>
              <a:buClr>
                <a:srgbClr val="FFFFFF"/>
              </a:buClr>
              <a:buSzPct val="25000"/>
              <a:buFont typeface="Roboto"/>
              <a:buNone/>
            </a:pPr>
            <a:r>
              <a:rPr lang="en-US" sz="2300" dirty="0">
                <a:solidFill>
                  <a:schemeClr val="lt1"/>
                </a:solidFill>
                <a:latin typeface="Roboto"/>
                <a:ea typeface="Roboto"/>
                <a:cs typeface="Roboto"/>
                <a:sym typeface="Roboto"/>
              </a:rPr>
              <a:t>                                      Google cloud vs AWS billing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281" y="914400"/>
            <a:ext cx="1066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Straight Connector 3"/>
          <p:cNvCxnSpPr>
            <a:stCxn id="1026" idx="2"/>
          </p:cNvCxnSpPr>
          <p:nvPr/>
        </p:nvCxnSpPr>
        <p:spPr>
          <a:xfrm>
            <a:off x="1372681" y="1828800"/>
            <a:ext cx="0" cy="457200"/>
          </a:xfrm>
          <a:prstGeom prst="line">
            <a:avLst/>
          </a:prstGeom>
        </p:spPr>
        <p:style>
          <a:lnRef idx="1">
            <a:schemeClr val="accent1"/>
          </a:lnRef>
          <a:fillRef idx="0">
            <a:schemeClr val="accent1"/>
          </a:fillRef>
          <a:effectRef idx="0">
            <a:schemeClr val="accent1"/>
          </a:effectRef>
          <a:fontRef idx="minor">
            <a:schemeClr val="tx1"/>
          </a:fontRef>
        </p:style>
      </p:cxnSp>
      <p:sp>
        <p:nvSpPr>
          <p:cNvPr id="6" name="Shape 4967">
            <a:extLst>
              <a:ext uri="{FF2B5EF4-FFF2-40B4-BE49-F238E27FC236}">
                <a16:creationId xmlns="" xmlns:a16="http://schemas.microsoft.com/office/drawing/2014/main" id="{ADCFA3CB-BF75-4DFC-8B51-F829C6F8DAA7}"/>
              </a:ext>
            </a:extLst>
          </p:cNvPr>
          <p:cNvSpPr/>
          <p:nvPr/>
        </p:nvSpPr>
        <p:spPr>
          <a:xfrm>
            <a:off x="381000" y="2209800"/>
            <a:ext cx="1983362" cy="798015"/>
          </a:xfrm>
          <a:prstGeom prst="roundRect">
            <a:avLst>
              <a:gd name="adj" fmla="val 1674"/>
            </a:avLst>
          </a:prstGeom>
          <a:solidFill>
            <a:srgbClr val="0070C0"/>
          </a:solidFill>
          <a:ln>
            <a:noFill/>
          </a:ln>
          <a:effectLst>
            <a:outerShdw blurRad="38100" dist="38100" dir="5400000" sx="99000" sy="99000" algn="ctr" rotWithShape="0">
              <a:srgbClr val="000000">
                <a:alpha val="15690"/>
              </a:srgbClr>
            </a:outerShdw>
          </a:effectLst>
        </p:spPr>
        <p:txBody>
          <a:bodyPr lIns="457200" tIns="64008" rIns="0" bIns="0" anchor="t" anchorCtr="0">
            <a:noAutofit/>
          </a:bodyPr>
          <a:lstStyle/>
          <a:p>
            <a:pPr marL="0" marR="0" lvl="0" indent="0" algn="l" rtl="0">
              <a:lnSpc>
                <a:spcPct val="100000"/>
              </a:lnSpc>
              <a:spcBef>
                <a:spcPts val="500"/>
              </a:spcBef>
              <a:spcAft>
                <a:spcPts val="0"/>
              </a:spcAft>
              <a:buClr>
                <a:srgbClr val="FFFFFF"/>
              </a:buClr>
              <a:buSzPct val="25000"/>
              <a:buFont typeface="Roboto"/>
              <a:buNone/>
            </a:pPr>
            <a:r>
              <a:rPr lang="en-US" sz="2000" dirty="0">
                <a:solidFill>
                  <a:schemeClr val="lt1"/>
                </a:solidFill>
                <a:latin typeface="Roboto"/>
                <a:ea typeface="Roboto"/>
                <a:cs typeface="Roboto"/>
                <a:sym typeface="Roboto"/>
              </a:rPr>
              <a:t>Google cloud</a:t>
            </a:r>
            <a:endParaRPr lang="en-US" sz="2300" dirty="0">
              <a:solidFill>
                <a:schemeClr val="lt1"/>
              </a:solidFill>
              <a:latin typeface="Roboto"/>
              <a:ea typeface="Roboto"/>
              <a:cs typeface="Roboto"/>
              <a:sym typeface="Roboto"/>
            </a:endParaRPr>
          </a:p>
          <a:p>
            <a:pPr marL="0" marR="0" lvl="0" indent="0" algn="l" rtl="0">
              <a:lnSpc>
                <a:spcPct val="100000"/>
              </a:lnSpc>
              <a:spcBef>
                <a:spcPts val="500"/>
              </a:spcBef>
              <a:spcAft>
                <a:spcPts val="0"/>
              </a:spcAft>
              <a:buClr>
                <a:srgbClr val="FFFFFF"/>
              </a:buClr>
              <a:buSzPct val="25000"/>
              <a:buFont typeface="Roboto"/>
              <a:buNone/>
            </a:pPr>
            <a:r>
              <a:rPr lang="en-US" sz="2000" dirty="0">
                <a:solidFill>
                  <a:schemeClr val="lt1"/>
                </a:solidFill>
                <a:latin typeface="Roboto"/>
                <a:ea typeface="Roboto"/>
                <a:cs typeface="Roboto"/>
                <a:sym typeface="Roboto"/>
              </a:rPr>
              <a:t>organization</a:t>
            </a:r>
          </a:p>
        </p:txBody>
      </p:sp>
      <p:cxnSp>
        <p:nvCxnSpPr>
          <p:cNvPr id="7" name="Straight Connector 6"/>
          <p:cNvCxnSpPr/>
          <p:nvPr/>
        </p:nvCxnSpPr>
        <p:spPr>
          <a:xfrm>
            <a:off x="1364618" y="3007814"/>
            <a:ext cx="0" cy="497386"/>
          </a:xfrm>
          <a:prstGeom prst="line">
            <a:avLst/>
          </a:prstGeom>
        </p:spPr>
        <p:style>
          <a:lnRef idx="1">
            <a:schemeClr val="accent1"/>
          </a:lnRef>
          <a:fillRef idx="0">
            <a:schemeClr val="accent1"/>
          </a:fillRef>
          <a:effectRef idx="0">
            <a:schemeClr val="accent1"/>
          </a:effectRef>
          <a:fontRef idx="minor">
            <a:schemeClr val="tx1"/>
          </a:fontRef>
        </p:style>
      </p:cxnSp>
      <p:sp>
        <p:nvSpPr>
          <p:cNvPr id="13" name="Shape 4967">
            <a:extLst>
              <a:ext uri="{FF2B5EF4-FFF2-40B4-BE49-F238E27FC236}">
                <a16:creationId xmlns="" xmlns:a16="http://schemas.microsoft.com/office/drawing/2014/main" id="{D0C4D573-7CEC-4058-B56E-7F9B7BF95B5D}"/>
              </a:ext>
            </a:extLst>
          </p:cNvPr>
          <p:cNvSpPr/>
          <p:nvPr/>
        </p:nvSpPr>
        <p:spPr>
          <a:xfrm>
            <a:off x="500221" y="3505200"/>
            <a:ext cx="1728793" cy="379128"/>
          </a:xfrm>
          <a:prstGeom prst="roundRect">
            <a:avLst>
              <a:gd name="adj" fmla="val 1674"/>
            </a:avLst>
          </a:prstGeom>
          <a:solidFill>
            <a:srgbClr val="0070C0"/>
          </a:solidFill>
          <a:ln>
            <a:noFill/>
          </a:ln>
          <a:effectLst>
            <a:outerShdw blurRad="38100" dist="38100" dir="5400000" sx="99000" sy="99000" algn="ctr" rotWithShape="0">
              <a:srgbClr val="000000">
                <a:alpha val="15690"/>
              </a:srgbClr>
            </a:outerShdw>
          </a:effectLst>
        </p:spPr>
        <p:txBody>
          <a:bodyPr lIns="457200" tIns="64008" rIns="0" bIns="0" anchor="t" anchorCtr="0">
            <a:noAutofit/>
          </a:bodyPr>
          <a:lstStyle/>
          <a:p>
            <a:pPr marL="0" marR="0" lvl="0" indent="0" algn="l" rtl="0">
              <a:lnSpc>
                <a:spcPct val="100000"/>
              </a:lnSpc>
              <a:spcBef>
                <a:spcPts val="500"/>
              </a:spcBef>
              <a:spcAft>
                <a:spcPts val="0"/>
              </a:spcAft>
              <a:buClr>
                <a:srgbClr val="FFFFFF"/>
              </a:buClr>
              <a:buSzPct val="25000"/>
              <a:buFont typeface="Roboto"/>
              <a:buNone/>
            </a:pPr>
            <a:r>
              <a:rPr lang="en-US" dirty="0">
                <a:solidFill>
                  <a:schemeClr val="lt1"/>
                </a:solidFill>
                <a:latin typeface="Roboto"/>
                <a:ea typeface="Roboto"/>
                <a:cs typeface="Roboto"/>
                <a:sym typeface="Roboto"/>
              </a:rPr>
              <a:t>Folders </a:t>
            </a:r>
          </a:p>
        </p:txBody>
      </p:sp>
      <p:cxnSp>
        <p:nvCxnSpPr>
          <p:cNvPr id="14" name="Straight Connector 13"/>
          <p:cNvCxnSpPr>
            <a:stCxn id="13" idx="2"/>
          </p:cNvCxnSpPr>
          <p:nvPr/>
        </p:nvCxnSpPr>
        <p:spPr>
          <a:xfrm flipH="1">
            <a:off x="1364617" y="3884328"/>
            <a:ext cx="1" cy="459072"/>
          </a:xfrm>
          <a:prstGeom prst="line">
            <a:avLst/>
          </a:prstGeom>
        </p:spPr>
        <p:style>
          <a:lnRef idx="1">
            <a:schemeClr val="accent1"/>
          </a:lnRef>
          <a:fillRef idx="0">
            <a:schemeClr val="accent1"/>
          </a:fillRef>
          <a:effectRef idx="0">
            <a:schemeClr val="accent1"/>
          </a:effectRef>
          <a:fontRef idx="minor">
            <a:schemeClr val="tx1"/>
          </a:fontRef>
        </p:style>
      </p:cxnSp>
      <p:sp>
        <p:nvSpPr>
          <p:cNvPr id="16" name="Shape 4967">
            <a:extLst>
              <a:ext uri="{FF2B5EF4-FFF2-40B4-BE49-F238E27FC236}">
                <a16:creationId xmlns="" xmlns:a16="http://schemas.microsoft.com/office/drawing/2014/main" id="{991E3DF7-FBDE-4698-B986-9CECCBDEB77B}"/>
              </a:ext>
            </a:extLst>
          </p:cNvPr>
          <p:cNvSpPr/>
          <p:nvPr/>
        </p:nvSpPr>
        <p:spPr>
          <a:xfrm>
            <a:off x="516387" y="4343400"/>
            <a:ext cx="1728793" cy="379128"/>
          </a:xfrm>
          <a:prstGeom prst="roundRect">
            <a:avLst>
              <a:gd name="adj" fmla="val 1674"/>
            </a:avLst>
          </a:prstGeom>
          <a:solidFill>
            <a:srgbClr val="0070C0"/>
          </a:solidFill>
          <a:ln>
            <a:noFill/>
          </a:ln>
          <a:effectLst>
            <a:outerShdw blurRad="38100" dist="38100" dir="5400000" sx="99000" sy="99000" algn="ctr" rotWithShape="0">
              <a:srgbClr val="000000">
                <a:alpha val="15690"/>
              </a:srgbClr>
            </a:outerShdw>
          </a:effectLst>
        </p:spPr>
        <p:txBody>
          <a:bodyPr lIns="457200" tIns="64008" rIns="0" bIns="0" anchor="t" anchorCtr="0">
            <a:noAutofit/>
          </a:bodyPr>
          <a:lstStyle/>
          <a:p>
            <a:pPr marL="0" marR="0" lvl="0" indent="0" algn="l" rtl="0">
              <a:lnSpc>
                <a:spcPct val="100000"/>
              </a:lnSpc>
              <a:spcBef>
                <a:spcPts val="500"/>
              </a:spcBef>
              <a:spcAft>
                <a:spcPts val="0"/>
              </a:spcAft>
              <a:buClr>
                <a:srgbClr val="FFFFFF"/>
              </a:buClr>
              <a:buSzPct val="25000"/>
              <a:buFont typeface="Roboto"/>
              <a:buNone/>
            </a:pPr>
            <a:r>
              <a:rPr lang="en-US" dirty="0">
                <a:solidFill>
                  <a:schemeClr val="lt1"/>
                </a:solidFill>
                <a:latin typeface="Roboto"/>
                <a:ea typeface="Roboto"/>
                <a:cs typeface="Roboto"/>
                <a:sym typeface="Roboto"/>
              </a:rPr>
              <a:t>Projects </a:t>
            </a:r>
          </a:p>
        </p:txBody>
      </p:sp>
      <p:cxnSp>
        <p:nvCxnSpPr>
          <p:cNvPr id="19" name="Straight Connector 18"/>
          <p:cNvCxnSpPr/>
          <p:nvPr/>
        </p:nvCxnSpPr>
        <p:spPr>
          <a:xfrm flipH="1">
            <a:off x="1364578" y="4722528"/>
            <a:ext cx="8103" cy="459072"/>
          </a:xfrm>
          <a:prstGeom prst="line">
            <a:avLst/>
          </a:prstGeom>
        </p:spPr>
        <p:style>
          <a:lnRef idx="1">
            <a:schemeClr val="accent1"/>
          </a:lnRef>
          <a:fillRef idx="0">
            <a:schemeClr val="accent1"/>
          </a:fillRef>
          <a:effectRef idx="0">
            <a:schemeClr val="accent1"/>
          </a:effectRef>
          <a:fontRef idx="minor">
            <a:schemeClr val="tx1"/>
          </a:fontRef>
        </p:style>
      </p:cxnSp>
      <p:sp>
        <p:nvSpPr>
          <p:cNvPr id="21" name="Shape 4967">
            <a:extLst>
              <a:ext uri="{FF2B5EF4-FFF2-40B4-BE49-F238E27FC236}">
                <a16:creationId xmlns="" xmlns:a16="http://schemas.microsoft.com/office/drawing/2014/main" id="{E933508D-7297-4F44-83CD-597EC2BEF539}"/>
              </a:ext>
            </a:extLst>
          </p:cNvPr>
          <p:cNvSpPr/>
          <p:nvPr/>
        </p:nvSpPr>
        <p:spPr>
          <a:xfrm>
            <a:off x="516387" y="5181600"/>
            <a:ext cx="1728793" cy="379128"/>
          </a:xfrm>
          <a:prstGeom prst="roundRect">
            <a:avLst>
              <a:gd name="adj" fmla="val 1674"/>
            </a:avLst>
          </a:prstGeom>
          <a:solidFill>
            <a:srgbClr val="0070C0"/>
          </a:solidFill>
          <a:ln>
            <a:noFill/>
          </a:ln>
          <a:effectLst>
            <a:outerShdw blurRad="38100" dist="38100" dir="5400000" sx="99000" sy="99000" algn="ctr" rotWithShape="0">
              <a:srgbClr val="000000">
                <a:alpha val="15690"/>
              </a:srgbClr>
            </a:outerShdw>
          </a:effectLst>
        </p:spPr>
        <p:txBody>
          <a:bodyPr lIns="457200" tIns="64008" rIns="0" bIns="0" anchor="t" anchorCtr="0">
            <a:noAutofit/>
          </a:bodyPr>
          <a:lstStyle/>
          <a:p>
            <a:pPr marL="0" marR="0" lvl="0" indent="0" algn="l" rtl="0">
              <a:lnSpc>
                <a:spcPct val="100000"/>
              </a:lnSpc>
              <a:spcBef>
                <a:spcPts val="500"/>
              </a:spcBef>
              <a:spcAft>
                <a:spcPts val="0"/>
              </a:spcAft>
              <a:buClr>
                <a:srgbClr val="FFFFFF"/>
              </a:buClr>
              <a:buSzPct val="25000"/>
              <a:buFont typeface="Roboto"/>
              <a:buNone/>
            </a:pPr>
            <a:r>
              <a:rPr lang="en-US" dirty="0">
                <a:solidFill>
                  <a:schemeClr val="bg1"/>
                </a:solidFill>
                <a:latin typeface="Roboto"/>
                <a:ea typeface="Roboto"/>
                <a:cs typeface="Roboto"/>
                <a:sym typeface="Roboto"/>
              </a:rPr>
              <a:t>Resources</a:t>
            </a:r>
            <a:r>
              <a:rPr lang="en-US" dirty="0">
                <a:solidFill>
                  <a:schemeClr val="lt1"/>
                </a:solidFill>
                <a:latin typeface="Roboto"/>
                <a:ea typeface="Roboto"/>
                <a:cs typeface="Roboto"/>
                <a:sym typeface="Roboto"/>
              </a:rPr>
              <a:t> </a:t>
            </a:r>
          </a:p>
        </p:txBody>
      </p:sp>
      <p:pic>
        <p:nvPicPr>
          <p:cNvPr id="1027" name="Picture 3" descr="C:\Users\DELL\Downloads\AWS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914400"/>
            <a:ext cx="1466850" cy="685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DELL\Downloads\AWS-Organization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005617"/>
            <a:ext cx="4953000" cy="3709383"/>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Arrow Connector 25"/>
          <p:cNvCxnSpPr>
            <a:stCxn id="1027" idx="2"/>
          </p:cNvCxnSpPr>
          <p:nvPr/>
        </p:nvCxnSpPr>
        <p:spPr>
          <a:xfrm>
            <a:off x="6600825" y="1600200"/>
            <a:ext cx="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37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6"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C:\Users\DELL\Downloads\AwsRegions_AZ.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 y="990600"/>
            <a:ext cx="9067800" cy="45720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38100" y="5715000"/>
            <a:ext cx="9067800" cy="646331"/>
          </a:xfrm>
          <a:prstGeom prst="rect">
            <a:avLst/>
          </a:prstGeom>
          <a:noFill/>
        </p:spPr>
        <p:txBody>
          <a:bodyPr wrap="square" rtlCol="0">
            <a:spAutoFit/>
          </a:bodyPr>
          <a:lstStyle/>
          <a:p>
            <a:r>
              <a:rPr lang="en-US" b="1" dirty="0" smtClean="0"/>
              <a:t>Current (2021) : 25 Regions, 81 AZ</a:t>
            </a:r>
          </a:p>
          <a:p>
            <a:r>
              <a:rPr lang="en-US" b="1" dirty="0" smtClean="0"/>
              <a:t>Upcoming : 9 Regions, 27 AZ</a:t>
            </a:r>
            <a:endParaRPr lang="en-US" b="1" dirty="0"/>
          </a:p>
        </p:txBody>
      </p:sp>
    </p:spTree>
    <p:extLst>
      <p:ext uri="{BB962C8B-B14F-4D97-AF65-F5344CB8AC3E}">
        <p14:creationId xmlns:p14="http://schemas.microsoft.com/office/powerpoint/2010/main" val="36062010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DELL\Downloads\GCPglobalinfr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143000"/>
            <a:ext cx="11430000" cy="3581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6200" y="152400"/>
            <a:ext cx="8153400" cy="369332"/>
          </a:xfrm>
          <a:prstGeom prst="rect">
            <a:avLst/>
          </a:prstGeom>
          <a:noFill/>
        </p:spPr>
        <p:txBody>
          <a:bodyPr wrap="square" rtlCol="0">
            <a:spAutoFit/>
          </a:bodyPr>
          <a:lstStyle/>
          <a:p>
            <a:r>
              <a:rPr lang="en-US" dirty="0" smtClean="0"/>
              <a:t>Google Cloud Platform Global Infrastructure</a:t>
            </a:r>
            <a:endParaRPr lang="en-US" dirty="0"/>
          </a:p>
        </p:txBody>
      </p:sp>
      <p:pic>
        <p:nvPicPr>
          <p:cNvPr id="4" name="Picture 3"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4953000"/>
            <a:ext cx="7543800" cy="1600200"/>
          </a:xfrm>
          <a:prstGeom prst="rect">
            <a:avLst/>
          </a:prstGeom>
        </p:spPr>
      </p:pic>
    </p:spTree>
    <p:extLst>
      <p:ext uri="{BB962C8B-B14F-4D97-AF65-F5344CB8AC3E}">
        <p14:creationId xmlns:p14="http://schemas.microsoft.com/office/powerpoint/2010/main" val="31008201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7"/>
            <a:ext cx="7886700" cy="777873"/>
          </a:xfrm>
        </p:spPr>
        <p:txBody>
          <a:bodyPr/>
          <a:lstStyle/>
          <a:p>
            <a:r>
              <a:rPr lang="en-US" b="1" dirty="0" smtClean="0"/>
              <a:t>Identity And Access Management</a:t>
            </a:r>
            <a:endParaRPr lang="en-US" b="1" dirty="0"/>
          </a:p>
        </p:txBody>
      </p:sp>
      <p:sp>
        <p:nvSpPr>
          <p:cNvPr id="6" name="Content Placeholder 5"/>
          <p:cNvSpPr>
            <a:spLocks noGrp="1"/>
          </p:cNvSpPr>
          <p:nvPr>
            <p:ph sz="quarter" idx="4"/>
          </p:nvPr>
        </p:nvSpPr>
        <p:spPr>
          <a:xfrm>
            <a:off x="4724400" y="4724400"/>
            <a:ext cx="3887391" cy="1443046"/>
          </a:xfrm>
        </p:spPr>
        <p:txBody>
          <a:bodyPr>
            <a:normAutofit lnSpcReduction="10000"/>
          </a:bodyPr>
          <a:lstStyle/>
          <a:p>
            <a:pPr>
              <a:buFont typeface="Wingdings" panose="05000000000000000000" pitchFamily="2" charset="2"/>
              <a:buChar char="Ø"/>
            </a:pPr>
            <a:r>
              <a:rPr lang="en-US" sz="1600" dirty="0" smtClean="0"/>
              <a:t>GCP has Cloud IAM to create users and groups.</a:t>
            </a:r>
          </a:p>
          <a:p>
            <a:pPr>
              <a:buFont typeface="Wingdings" panose="05000000000000000000" pitchFamily="2" charset="2"/>
              <a:buChar char="Ø"/>
            </a:pPr>
            <a:r>
              <a:rPr lang="en-US" sz="1600" dirty="0" smtClean="0"/>
              <a:t>This resource is similar to AWS IAM service, the only difference is in GCP we have to attach IAM roles to assign permissions.</a:t>
            </a:r>
            <a:endParaRPr lang="en-US" sz="1600" dirty="0"/>
          </a:p>
        </p:txBody>
      </p:sp>
      <p:sp>
        <p:nvSpPr>
          <p:cNvPr id="8" name="Content Placeholder 7"/>
          <p:cNvSpPr>
            <a:spLocks noGrp="1"/>
          </p:cNvSpPr>
          <p:nvPr>
            <p:ph sz="half" idx="2"/>
          </p:nvPr>
        </p:nvSpPr>
        <p:spPr>
          <a:xfrm>
            <a:off x="629842" y="4724399"/>
            <a:ext cx="3868340" cy="1465263"/>
          </a:xfrm>
        </p:spPr>
        <p:txBody>
          <a:bodyPr>
            <a:normAutofit fontScale="92500" lnSpcReduction="20000"/>
          </a:bodyPr>
          <a:lstStyle/>
          <a:p>
            <a:pPr>
              <a:buFont typeface="Wingdings" panose="05000000000000000000" pitchFamily="2" charset="2"/>
              <a:buChar char="Ø"/>
            </a:pPr>
            <a:r>
              <a:rPr lang="en-US" sz="1700" dirty="0" smtClean="0"/>
              <a:t>In AWS we have IAM service to create users, groups and assign permissions to them.</a:t>
            </a:r>
          </a:p>
          <a:p>
            <a:pPr>
              <a:buFont typeface="Wingdings" panose="05000000000000000000" pitchFamily="2" charset="2"/>
              <a:buChar char="Ø"/>
            </a:pPr>
            <a:r>
              <a:rPr lang="en-US" sz="1700" dirty="0" smtClean="0"/>
              <a:t>We can assign permissions to users and groups by attaching IAM Policies to them.</a:t>
            </a:r>
          </a:p>
          <a:p>
            <a:pPr>
              <a:buFont typeface="Wingdings" panose="05000000000000000000" pitchFamily="2" charset="2"/>
              <a:buChar char="Ø"/>
            </a:pPr>
            <a:r>
              <a:rPr lang="en-US" sz="1700" dirty="0" smtClean="0"/>
              <a:t>For AWS services there are IAM roles.</a:t>
            </a:r>
          </a:p>
          <a:p>
            <a:pPr marL="0" indent="0">
              <a:buNone/>
            </a:pPr>
            <a:endParaRPr lang="en-US" dirty="0"/>
          </a:p>
        </p:txBody>
      </p:sp>
      <p:pic>
        <p:nvPicPr>
          <p:cNvPr id="4101" name="Picture 5" descr="C:\Users\DELL\Downloads\GCPIA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5000" y="1600200"/>
            <a:ext cx="2057400" cy="200253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C:\Users\DELL\Downloads\AWSIA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088136"/>
            <a:ext cx="4114800" cy="325526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5074920" y="3678936"/>
            <a:ext cx="3505200" cy="400110"/>
          </a:xfrm>
          <a:prstGeom prst="rect">
            <a:avLst/>
          </a:prstGeom>
          <a:noFill/>
        </p:spPr>
        <p:txBody>
          <a:bodyPr wrap="square" rtlCol="0">
            <a:spAutoFit/>
          </a:bodyPr>
          <a:lstStyle/>
          <a:p>
            <a:r>
              <a:rPr lang="en-US" sz="2000" dirty="0"/>
              <a:t> </a:t>
            </a:r>
            <a:r>
              <a:rPr lang="en-US" sz="2000" dirty="0" smtClean="0"/>
              <a:t>                 Cloud IAM</a:t>
            </a:r>
            <a:endParaRPr lang="en-US" sz="2000" dirty="0"/>
          </a:p>
        </p:txBody>
      </p:sp>
    </p:spTree>
    <p:extLst>
      <p:ext uri="{BB962C8B-B14F-4D97-AF65-F5344CB8AC3E}">
        <p14:creationId xmlns:p14="http://schemas.microsoft.com/office/powerpoint/2010/main" val="19842272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886700" cy="320673"/>
          </a:xfrm>
        </p:spPr>
        <p:txBody>
          <a:bodyPr>
            <a:noAutofit/>
          </a:bodyPr>
          <a:lstStyle/>
          <a:p>
            <a:r>
              <a:rPr lang="en-US" sz="4000" b="1" dirty="0" smtClean="0"/>
              <a:t>Compute Services</a:t>
            </a:r>
            <a:endParaRPr lang="en-US" sz="4000" b="1" dirty="0"/>
          </a:p>
        </p:txBody>
      </p:sp>
      <p:sp>
        <p:nvSpPr>
          <p:cNvPr id="4" name="Content Placeholder 3"/>
          <p:cNvSpPr>
            <a:spLocks noGrp="1"/>
          </p:cNvSpPr>
          <p:nvPr>
            <p:ph sz="half" idx="2"/>
          </p:nvPr>
        </p:nvSpPr>
        <p:spPr>
          <a:xfrm>
            <a:off x="460034" y="3200400"/>
            <a:ext cx="3868340" cy="2015808"/>
          </a:xfrm>
        </p:spPr>
        <p:txBody>
          <a:bodyPr>
            <a:normAutofit fontScale="92500" lnSpcReduction="20000"/>
          </a:bodyPr>
          <a:lstStyle/>
          <a:p>
            <a:pPr>
              <a:buFont typeface="Wingdings" panose="05000000000000000000" pitchFamily="2" charset="2"/>
              <a:buChar char="Ø"/>
            </a:pPr>
            <a:r>
              <a:rPr lang="en-US" sz="1700" dirty="0" smtClean="0"/>
              <a:t>Amazon EC2 is a service which is used for virtual machines.</a:t>
            </a:r>
          </a:p>
          <a:p>
            <a:pPr>
              <a:buFont typeface="Wingdings" panose="05000000000000000000" pitchFamily="2" charset="2"/>
              <a:buChar char="Ø"/>
            </a:pPr>
            <a:r>
              <a:rPr lang="en-US" sz="1700" dirty="0" smtClean="0"/>
              <a:t>Machine Types:- General purpose (M), Memory Optimized (R, X1), Compute Optimized (C), Storage Optimized (I, d, h1).</a:t>
            </a:r>
          </a:p>
          <a:p>
            <a:pPr>
              <a:buFont typeface="Wingdings" panose="05000000000000000000" pitchFamily="2" charset="2"/>
              <a:buChar char="Ø"/>
            </a:pPr>
            <a:r>
              <a:rPr lang="en-US" sz="1700" dirty="0" smtClean="0"/>
              <a:t>Pricing Models:- On Demand, Reserved Instances, Spot Instances.</a:t>
            </a:r>
          </a:p>
          <a:p>
            <a:pPr>
              <a:buFont typeface="Wingdings" panose="05000000000000000000" pitchFamily="2" charset="2"/>
              <a:buChar char="Ø"/>
            </a:pPr>
            <a:r>
              <a:rPr lang="en-US" sz="1700" dirty="0" smtClean="0"/>
              <a:t>EC2 is a regional service.</a:t>
            </a:r>
          </a:p>
          <a:p>
            <a:pPr>
              <a:buFont typeface="Wingdings" panose="05000000000000000000" pitchFamily="2" charset="2"/>
              <a:buChar char="Ø"/>
            </a:pPr>
            <a:endParaRPr lang="en-US" dirty="0"/>
          </a:p>
        </p:txBody>
      </p:sp>
      <p:sp>
        <p:nvSpPr>
          <p:cNvPr id="6" name="Content Placeholder 5"/>
          <p:cNvSpPr>
            <a:spLocks noGrp="1"/>
          </p:cNvSpPr>
          <p:nvPr>
            <p:ph sz="quarter" idx="4"/>
          </p:nvPr>
        </p:nvSpPr>
        <p:spPr>
          <a:xfrm>
            <a:off x="4610433" y="3048000"/>
            <a:ext cx="3887391" cy="2227263"/>
          </a:xfrm>
        </p:spPr>
        <p:txBody>
          <a:bodyPr>
            <a:noAutofit/>
          </a:bodyPr>
          <a:lstStyle/>
          <a:p>
            <a:pPr>
              <a:buFont typeface="Wingdings" panose="05000000000000000000" pitchFamily="2" charset="2"/>
              <a:buChar char="Ø"/>
            </a:pPr>
            <a:r>
              <a:rPr lang="en-US" sz="1600" dirty="0" smtClean="0"/>
              <a:t>In GCP compute engine is used for virtual machines.</a:t>
            </a:r>
          </a:p>
          <a:p>
            <a:pPr>
              <a:buFont typeface="Wingdings" panose="05000000000000000000" pitchFamily="2" charset="2"/>
              <a:buChar char="Ø"/>
            </a:pPr>
            <a:r>
              <a:rPr lang="en-US" sz="1600" dirty="0" smtClean="0"/>
              <a:t>Machine Types:- General Purpose (E2, N2, N2D, N1), Compute Optimized (C), Memory Optimized (M). </a:t>
            </a:r>
          </a:p>
          <a:p>
            <a:pPr>
              <a:buFont typeface="Wingdings" panose="05000000000000000000" pitchFamily="2" charset="2"/>
              <a:buChar char="Ø"/>
            </a:pPr>
            <a:r>
              <a:rPr lang="en-US" sz="1600" dirty="0" smtClean="0"/>
              <a:t>In GCP we have a option to create custom VM were we can configure vCPU, memory, storage according to our requirements.</a:t>
            </a:r>
          </a:p>
          <a:p>
            <a:pPr>
              <a:buFont typeface="Wingdings" panose="05000000000000000000" pitchFamily="2" charset="2"/>
              <a:buChar char="Ø"/>
            </a:pPr>
            <a:r>
              <a:rPr lang="en-US" sz="1600" dirty="0" smtClean="0"/>
              <a:t>Pricing Models:- Preemptible VM, Custom VM.</a:t>
            </a:r>
          </a:p>
          <a:p>
            <a:pPr>
              <a:buFont typeface="Wingdings" panose="05000000000000000000" pitchFamily="2" charset="2"/>
              <a:buChar char="Ø"/>
            </a:pPr>
            <a:r>
              <a:rPr lang="en-US" sz="1600" dirty="0" smtClean="0"/>
              <a:t>Compared to AWS spot instances there are preemptible VM’s in GCP.</a:t>
            </a:r>
          </a:p>
          <a:p>
            <a:pPr>
              <a:buFont typeface="Wingdings" panose="05000000000000000000" pitchFamily="2" charset="2"/>
              <a:buChar char="Ø"/>
            </a:pPr>
            <a:r>
              <a:rPr lang="en-US" sz="1600" dirty="0" smtClean="0"/>
              <a:t>Compute Engine is a zonal resource.</a:t>
            </a:r>
            <a:endParaRPr lang="en-US" sz="1600" dirty="0"/>
          </a:p>
        </p:txBody>
      </p:sp>
      <p:pic>
        <p:nvPicPr>
          <p:cNvPr id="1026" name="Picture 2" descr="C:\Users\DELL\Downloads\EC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04" y="914400"/>
            <a:ext cx="41910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DELL\Downloads\Google-Compute-Engi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5192" y="752856"/>
            <a:ext cx="3505200" cy="1990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7757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886700" cy="533400"/>
          </a:xfrm>
        </p:spPr>
        <p:txBody>
          <a:bodyPr>
            <a:normAutofit fontScale="90000"/>
          </a:bodyPr>
          <a:lstStyle/>
          <a:p>
            <a:r>
              <a:rPr lang="en-US" b="1" dirty="0" smtClean="0"/>
              <a:t>Load Balancing</a:t>
            </a:r>
            <a:endParaRPr lang="en-US" b="1" dirty="0"/>
          </a:p>
        </p:txBody>
      </p:sp>
      <p:sp>
        <p:nvSpPr>
          <p:cNvPr id="4" name="Content Placeholder 3"/>
          <p:cNvSpPr>
            <a:spLocks noGrp="1"/>
          </p:cNvSpPr>
          <p:nvPr>
            <p:ph sz="half" idx="2"/>
          </p:nvPr>
        </p:nvSpPr>
        <p:spPr>
          <a:xfrm>
            <a:off x="199430" y="4038600"/>
            <a:ext cx="3868340" cy="2312988"/>
          </a:xfrm>
        </p:spPr>
        <p:txBody>
          <a:bodyPr>
            <a:normAutofit/>
          </a:bodyPr>
          <a:lstStyle/>
          <a:p>
            <a:pPr>
              <a:buFont typeface="Wingdings" panose="05000000000000000000" pitchFamily="2" charset="2"/>
              <a:buChar char="Ø"/>
            </a:pPr>
            <a:r>
              <a:rPr lang="en-US" sz="1600" dirty="0" smtClean="0"/>
              <a:t>AWS offers 3 types of load balancer – Classic load balancer, Application load balancer and Network load balancer.</a:t>
            </a:r>
          </a:p>
          <a:p>
            <a:pPr>
              <a:buFont typeface="Wingdings" panose="05000000000000000000" pitchFamily="2" charset="2"/>
              <a:buChar char="Ø"/>
            </a:pPr>
            <a:r>
              <a:rPr lang="en-US" sz="1600" dirty="0" smtClean="0"/>
              <a:t>AWS ELB service offers path based routing, Health checks for instances.</a:t>
            </a:r>
          </a:p>
          <a:p>
            <a:pPr>
              <a:buFont typeface="Wingdings" panose="05000000000000000000" pitchFamily="2" charset="2"/>
              <a:buChar char="Ø"/>
            </a:pPr>
            <a:r>
              <a:rPr lang="en-US" sz="1600" dirty="0" smtClean="0"/>
              <a:t>It also supports session affinity known as stickiness.</a:t>
            </a:r>
          </a:p>
          <a:p>
            <a:pPr marL="0" indent="0">
              <a:buNone/>
            </a:pPr>
            <a:endParaRPr lang="en-US" sz="1600" dirty="0" smtClean="0"/>
          </a:p>
          <a:p>
            <a:pPr marL="0" indent="0">
              <a:buNone/>
            </a:pPr>
            <a:endParaRPr lang="en-US" dirty="0"/>
          </a:p>
        </p:txBody>
      </p:sp>
      <p:sp>
        <p:nvSpPr>
          <p:cNvPr id="6" name="Content Placeholder 5"/>
          <p:cNvSpPr>
            <a:spLocks noGrp="1"/>
          </p:cNvSpPr>
          <p:nvPr>
            <p:ph sz="quarter" idx="4"/>
          </p:nvPr>
        </p:nvSpPr>
        <p:spPr>
          <a:xfrm>
            <a:off x="4724400" y="4038600"/>
            <a:ext cx="3887391" cy="2617788"/>
          </a:xfrm>
        </p:spPr>
        <p:txBody>
          <a:bodyPr>
            <a:normAutofit/>
          </a:bodyPr>
          <a:lstStyle/>
          <a:p>
            <a:pPr>
              <a:buFont typeface="Wingdings" panose="05000000000000000000" pitchFamily="2" charset="2"/>
              <a:buChar char="Ø"/>
            </a:pPr>
            <a:r>
              <a:rPr lang="en-US" sz="1600" dirty="0" smtClean="0"/>
              <a:t>GCP offers 4 types of load balancers – HTTP/HTTPS, TCP/UDP, SSL Proxy load balancer, TCP Proxy load balancer.</a:t>
            </a:r>
          </a:p>
          <a:p>
            <a:pPr>
              <a:buFont typeface="Wingdings" panose="05000000000000000000" pitchFamily="2" charset="2"/>
              <a:buChar char="Ø"/>
            </a:pPr>
            <a:r>
              <a:rPr lang="en-US" sz="1600" dirty="0" smtClean="0"/>
              <a:t>GCP load balancer also supports path based routing it is known as content aware load balancing. </a:t>
            </a:r>
          </a:p>
          <a:p>
            <a:pPr>
              <a:buFont typeface="Wingdings" panose="05000000000000000000" pitchFamily="2" charset="2"/>
              <a:buChar char="Ø"/>
            </a:pPr>
            <a:r>
              <a:rPr lang="en-US" sz="1600" dirty="0" smtClean="0"/>
              <a:t>Supports health checks and session affinity as well.</a:t>
            </a:r>
          </a:p>
        </p:txBody>
      </p:sp>
      <p:pic>
        <p:nvPicPr>
          <p:cNvPr id="2051" name="Picture 3" descr="C:\Users\DELL\Downloads\el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822960"/>
            <a:ext cx="2743200" cy="275844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DELL\Downloads\gcpl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676656"/>
            <a:ext cx="2362200" cy="207264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257800" y="2758440"/>
            <a:ext cx="3124200" cy="954107"/>
          </a:xfrm>
          <a:prstGeom prst="rect">
            <a:avLst/>
          </a:prstGeom>
          <a:noFill/>
        </p:spPr>
        <p:txBody>
          <a:bodyPr wrap="square" rtlCol="0">
            <a:spAutoFit/>
          </a:bodyPr>
          <a:lstStyle/>
          <a:p>
            <a:r>
              <a:rPr lang="en-US" sz="2800" b="1" dirty="0" smtClean="0"/>
              <a:t>Google Cloud Load Balancer</a:t>
            </a:r>
            <a:endParaRPr lang="en-US" sz="2800" b="1" dirty="0"/>
          </a:p>
        </p:txBody>
      </p:sp>
    </p:spTree>
    <p:extLst>
      <p:ext uri="{BB962C8B-B14F-4D97-AF65-F5344CB8AC3E}">
        <p14:creationId xmlns:p14="http://schemas.microsoft.com/office/powerpoint/2010/main" val="4824801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886700" cy="761999"/>
          </a:xfrm>
        </p:spPr>
        <p:txBody>
          <a:bodyPr>
            <a:normAutofit/>
          </a:bodyPr>
          <a:lstStyle/>
          <a:p>
            <a:r>
              <a:rPr lang="en-US" sz="4000" b="1" dirty="0" smtClean="0"/>
              <a:t>Autoscaling Services</a:t>
            </a:r>
            <a:endParaRPr lang="en-US" sz="4000" b="1" dirty="0"/>
          </a:p>
        </p:txBody>
      </p:sp>
      <p:sp>
        <p:nvSpPr>
          <p:cNvPr id="4" name="Content Placeholder 3"/>
          <p:cNvSpPr>
            <a:spLocks noGrp="1"/>
          </p:cNvSpPr>
          <p:nvPr>
            <p:ph sz="half" idx="2"/>
          </p:nvPr>
        </p:nvSpPr>
        <p:spPr>
          <a:xfrm>
            <a:off x="609600" y="4114800"/>
            <a:ext cx="3868340" cy="2312988"/>
          </a:xfrm>
        </p:spPr>
        <p:txBody>
          <a:bodyPr>
            <a:normAutofit/>
          </a:bodyPr>
          <a:lstStyle/>
          <a:p>
            <a:pPr>
              <a:buFont typeface="Wingdings" panose="05000000000000000000" pitchFamily="2" charset="2"/>
              <a:buChar char="Ø"/>
            </a:pPr>
            <a:r>
              <a:rPr lang="en-US" sz="1600" dirty="0" smtClean="0"/>
              <a:t>AWS offers two types of scaling for servers. Horizontal and Vertical Scaling.</a:t>
            </a:r>
          </a:p>
          <a:p>
            <a:pPr>
              <a:buFont typeface="Wingdings" panose="05000000000000000000" pitchFamily="2" charset="2"/>
              <a:buChar char="Ø"/>
            </a:pPr>
            <a:r>
              <a:rPr lang="en-US" sz="1600" dirty="0" smtClean="0"/>
              <a:t>AWS has 2 types of scaling policies:-</a:t>
            </a:r>
            <a:endParaRPr lang="en-US" sz="1600" dirty="0"/>
          </a:p>
          <a:p>
            <a:pPr marL="342900" indent="-342900">
              <a:buFont typeface="+mj-lt"/>
              <a:buAutoNum type="arabicPeriod"/>
            </a:pPr>
            <a:r>
              <a:rPr lang="en-US" sz="1600" dirty="0" smtClean="0"/>
              <a:t>Dynamic Scaling</a:t>
            </a:r>
          </a:p>
          <a:p>
            <a:pPr marL="342900" indent="-342900">
              <a:buFont typeface="+mj-lt"/>
              <a:buAutoNum type="arabicPeriod"/>
            </a:pPr>
            <a:r>
              <a:rPr lang="en-US" sz="1600" dirty="0" smtClean="0"/>
              <a:t>Predictive Scaling</a:t>
            </a:r>
          </a:p>
          <a:p>
            <a:pPr marL="0" indent="0">
              <a:buNone/>
            </a:pPr>
            <a:endParaRPr lang="en-US" sz="1600" dirty="0" smtClean="0"/>
          </a:p>
          <a:p>
            <a:pPr marL="342900" indent="-342900">
              <a:buFont typeface="+mj-lt"/>
              <a:buAutoNum type="arabicPeriod"/>
            </a:pPr>
            <a:endParaRPr lang="en-US" sz="1600" dirty="0" smtClean="0"/>
          </a:p>
        </p:txBody>
      </p:sp>
      <p:sp>
        <p:nvSpPr>
          <p:cNvPr id="6" name="Content Placeholder 5"/>
          <p:cNvSpPr>
            <a:spLocks noGrp="1"/>
          </p:cNvSpPr>
          <p:nvPr>
            <p:ph sz="quarter" idx="4"/>
          </p:nvPr>
        </p:nvSpPr>
        <p:spPr>
          <a:xfrm>
            <a:off x="4648200" y="4114800"/>
            <a:ext cx="3887391" cy="2227263"/>
          </a:xfrm>
        </p:spPr>
        <p:txBody>
          <a:bodyPr>
            <a:noAutofit/>
          </a:bodyPr>
          <a:lstStyle/>
          <a:p>
            <a:pPr>
              <a:buFont typeface="Wingdings" panose="05000000000000000000" pitchFamily="2" charset="2"/>
              <a:buChar char="Ø"/>
            </a:pPr>
            <a:r>
              <a:rPr lang="en-US" sz="1600" dirty="0" smtClean="0"/>
              <a:t>GCP has Instance Group for scaling of servers. </a:t>
            </a:r>
          </a:p>
          <a:p>
            <a:pPr>
              <a:buFont typeface="Wingdings" panose="05000000000000000000" pitchFamily="2" charset="2"/>
              <a:buChar char="Ø"/>
            </a:pPr>
            <a:r>
              <a:rPr lang="en-US" sz="1600" dirty="0" smtClean="0"/>
              <a:t>There are two types of instance groups:-</a:t>
            </a:r>
          </a:p>
          <a:p>
            <a:pPr marL="342900" indent="-342900">
              <a:buFont typeface="+mj-lt"/>
              <a:buAutoNum type="arabicPeriod"/>
            </a:pPr>
            <a:r>
              <a:rPr lang="en-US" sz="1600" dirty="0" smtClean="0"/>
              <a:t>Managed Instance Groups – Used for autoscaling. It has identical instance resources. These are zonal or regional in nature.</a:t>
            </a:r>
          </a:p>
          <a:p>
            <a:pPr marL="342900" indent="-342900">
              <a:buFont typeface="+mj-lt"/>
              <a:buAutoNum type="arabicPeriod"/>
            </a:pPr>
            <a:r>
              <a:rPr lang="en-US" sz="1600" dirty="0" smtClean="0"/>
              <a:t>Unmanaged Instance Groups  - Can not be used for autoscaling, as it has non – identical instance resources.</a:t>
            </a:r>
            <a:endParaRPr lang="en-US" sz="1600" dirty="0"/>
          </a:p>
        </p:txBody>
      </p:sp>
      <p:pic>
        <p:nvPicPr>
          <p:cNvPr id="3074" name="Picture 2" descr="C:\Users\DELL\Downloads\AWS-ASGs-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3124200" cy="28956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C:\Users\DELL\Downloads\instance_group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990600"/>
            <a:ext cx="42291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7003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49353"/>
            <a:ext cx="8001000" cy="612647"/>
          </a:xfrm>
        </p:spPr>
        <p:txBody>
          <a:bodyPr>
            <a:noAutofit/>
          </a:bodyPr>
          <a:lstStyle/>
          <a:p>
            <a:r>
              <a:rPr lang="en-US" sz="4000" b="1" dirty="0" smtClean="0"/>
              <a:t>Block Storage</a:t>
            </a:r>
            <a:endParaRPr lang="en-US" sz="4000" b="1" dirty="0"/>
          </a:p>
        </p:txBody>
      </p:sp>
      <p:sp>
        <p:nvSpPr>
          <p:cNvPr id="4" name="Content Placeholder 3"/>
          <p:cNvSpPr>
            <a:spLocks noGrp="1"/>
          </p:cNvSpPr>
          <p:nvPr>
            <p:ph sz="half" idx="2"/>
          </p:nvPr>
        </p:nvSpPr>
        <p:spPr>
          <a:xfrm>
            <a:off x="313730" y="2971800"/>
            <a:ext cx="3953470" cy="3124200"/>
          </a:xfrm>
        </p:spPr>
        <p:txBody>
          <a:bodyPr>
            <a:normAutofit fontScale="77500" lnSpcReduction="20000"/>
          </a:bodyPr>
          <a:lstStyle/>
          <a:p>
            <a:pPr>
              <a:buFont typeface="Wingdings" panose="05000000000000000000" pitchFamily="2" charset="2"/>
              <a:buChar char="Ø"/>
            </a:pPr>
            <a:r>
              <a:rPr lang="en-US" sz="1900" dirty="0" smtClean="0"/>
              <a:t>AWS offers Elastic Block Storage (EBS) for block storage purposes.</a:t>
            </a:r>
          </a:p>
          <a:p>
            <a:pPr>
              <a:buFont typeface="Wingdings" panose="05000000000000000000" pitchFamily="2" charset="2"/>
              <a:buChar char="Ø"/>
            </a:pPr>
            <a:r>
              <a:rPr lang="en-US" sz="1900" dirty="0" smtClean="0"/>
              <a:t>EBS supports maximum volume size of 64TB.</a:t>
            </a:r>
          </a:p>
          <a:p>
            <a:pPr>
              <a:buFont typeface="Wingdings" panose="05000000000000000000" pitchFamily="2" charset="2"/>
              <a:buChar char="Ø"/>
            </a:pPr>
            <a:r>
              <a:rPr lang="en-US" sz="1900" dirty="0" smtClean="0"/>
              <a:t>It supports SDD and HDD volumes.</a:t>
            </a:r>
          </a:p>
          <a:p>
            <a:r>
              <a:rPr lang="en-US" sz="1900" dirty="0"/>
              <a:t>General Purpose SSD — Provides a balance of price and performance. </a:t>
            </a:r>
          </a:p>
          <a:p>
            <a:r>
              <a:rPr lang="en-US" sz="1900" dirty="0"/>
              <a:t>Provisioned IOPS SSD — </a:t>
            </a:r>
            <a:r>
              <a:rPr lang="en-US" sz="1900" dirty="0"/>
              <a:t>Provides</a:t>
            </a:r>
            <a:r>
              <a:rPr lang="en-US" sz="1900" dirty="0"/>
              <a:t> high performance for mission-critical, low-latency, or high-throughput workloads</a:t>
            </a:r>
            <a:r>
              <a:rPr lang="en-US" sz="1900" dirty="0" smtClean="0"/>
              <a:t>.</a:t>
            </a:r>
          </a:p>
          <a:p>
            <a:r>
              <a:rPr lang="en-US" sz="1900" dirty="0"/>
              <a:t>Throughput Optimized HDD — A low-cost HDD designed for frequently accessed, throughput-intensive workloads.</a:t>
            </a:r>
          </a:p>
          <a:p>
            <a:r>
              <a:rPr lang="en-US" sz="1900" dirty="0"/>
              <a:t>Cold HDD — The lowest-cost HDD design for less frequently accessed workloads.</a:t>
            </a:r>
          </a:p>
          <a:p>
            <a:endParaRPr lang="en-US" sz="1600" dirty="0"/>
          </a:p>
          <a:p>
            <a:pPr>
              <a:buFont typeface="Wingdings" panose="05000000000000000000" pitchFamily="2" charset="2"/>
              <a:buChar char="Ø"/>
            </a:pPr>
            <a:endParaRPr lang="en-US" sz="1600" dirty="0"/>
          </a:p>
        </p:txBody>
      </p:sp>
      <p:sp>
        <p:nvSpPr>
          <p:cNvPr id="6" name="Content Placeholder 5"/>
          <p:cNvSpPr>
            <a:spLocks noGrp="1"/>
          </p:cNvSpPr>
          <p:nvPr>
            <p:ph sz="quarter" idx="4"/>
          </p:nvPr>
        </p:nvSpPr>
        <p:spPr>
          <a:xfrm>
            <a:off x="4648200" y="2971800"/>
            <a:ext cx="3887391" cy="3684588"/>
          </a:xfrm>
        </p:spPr>
        <p:txBody>
          <a:bodyPr>
            <a:normAutofit/>
          </a:bodyPr>
          <a:lstStyle/>
          <a:p>
            <a:pPr>
              <a:buFont typeface="Wingdings" panose="05000000000000000000" pitchFamily="2" charset="2"/>
              <a:buChar char="Ø"/>
            </a:pPr>
            <a:r>
              <a:rPr lang="en-US" sz="1600" dirty="0" smtClean="0"/>
              <a:t>GCP offers disks for block storage. It’s a zonal resource</a:t>
            </a:r>
          </a:p>
          <a:p>
            <a:pPr>
              <a:buFont typeface="Wingdings" panose="05000000000000000000" pitchFamily="2" charset="2"/>
              <a:buChar char="Ø"/>
            </a:pPr>
            <a:r>
              <a:rPr lang="en-US" sz="1600" dirty="0" smtClean="0"/>
              <a:t>There are 2 types of disks in GCP:- Persistent and Local SSD.</a:t>
            </a:r>
          </a:p>
          <a:p>
            <a:pPr marL="342900" indent="-342900">
              <a:buFont typeface="+mj-lt"/>
              <a:buAutoNum type="arabicPeriod"/>
            </a:pPr>
            <a:r>
              <a:rPr lang="en-US" sz="1600" dirty="0" smtClean="0"/>
              <a:t>Persistent Disks:- Used for snapshots, supports SSD and HDD. Can be resized even when the instance is running. Supports automatic encryption. Maximum size per disk can be up to 64TB. </a:t>
            </a:r>
          </a:p>
          <a:p>
            <a:pPr marL="342900" indent="-342900">
              <a:buFont typeface="+mj-lt"/>
              <a:buAutoNum type="arabicPeriod"/>
            </a:pPr>
            <a:r>
              <a:rPr lang="en-US" sz="1600" dirty="0" smtClean="0"/>
              <a:t>Local SSD:- </a:t>
            </a:r>
            <a:r>
              <a:rPr lang="en-US" sz="1600" dirty="0"/>
              <a:t>Local SSDs have higher throughput and lower latency than </a:t>
            </a:r>
            <a:r>
              <a:rPr lang="en-US" sz="1600" dirty="0" smtClean="0"/>
              <a:t>persistent disks. Maximum size per disk can be up to 375GB.</a:t>
            </a:r>
          </a:p>
        </p:txBody>
      </p:sp>
      <p:pic>
        <p:nvPicPr>
          <p:cNvPr id="4098" name="Picture 2" descr="C:\Users\DELL\Downloads\awseb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85800"/>
            <a:ext cx="34290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C:\Users\DELL\Downloads\GCPdisk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841248"/>
            <a:ext cx="16002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800600" y="2438400"/>
            <a:ext cx="3733800" cy="381000"/>
          </a:xfrm>
          <a:prstGeom prst="rect">
            <a:avLst/>
          </a:prstGeom>
          <a:noFill/>
        </p:spPr>
        <p:txBody>
          <a:bodyPr wrap="square" rtlCol="0">
            <a:spAutoFit/>
          </a:bodyPr>
          <a:lstStyle/>
          <a:p>
            <a:r>
              <a:rPr lang="en-US" dirty="0"/>
              <a:t> </a:t>
            </a:r>
            <a:r>
              <a:rPr lang="en-US" dirty="0" smtClean="0"/>
              <a:t>              Google Cloud Disks</a:t>
            </a:r>
            <a:endParaRPr lang="en-US" dirty="0"/>
          </a:p>
        </p:txBody>
      </p:sp>
    </p:spTree>
    <p:extLst>
      <p:ext uri="{BB962C8B-B14F-4D97-AF65-F5344CB8AC3E}">
        <p14:creationId xmlns:p14="http://schemas.microsoft.com/office/powerpoint/2010/main" val="23432928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1"/>
            <a:ext cx="7886700" cy="457199"/>
          </a:xfrm>
        </p:spPr>
        <p:txBody>
          <a:bodyPr>
            <a:normAutofit fontScale="90000"/>
          </a:bodyPr>
          <a:lstStyle/>
          <a:p>
            <a:r>
              <a:rPr lang="en-US" b="1" dirty="0" smtClean="0"/>
              <a:t>Object Storage</a:t>
            </a:r>
            <a:endParaRPr lang="en-US" b="1" dirty="0"/>
          </a:p>
        </p:txBody>
      </p:sp>
      <p:sp>
        <p:nvSpPr>
          <p:cNvPr id="4" name="Content Placeholder 3"/>
          <p:cNvSpPr>
            <a:spLocks noGrp="1"/>
          </p:cNvSpPr>
          <p:nvPr>
            <p:ph sz="half" idx="2"/>
          </p:nvPr>
        </p:nvSpPr>
        <p:spPr>
          <a:xfrm>
            <a:off x="228600" y="2286000"/>
            <a:ext cx="4096940" cy="4495800"/>
          </a:xfrm>
        </p:spPr>
        <p:txBody>
          <a:bodyPr>
            <a:normAutofit fontScale="92500" lnSpcReduction="20000"/>
          </a:bodyPr>
          <a:lstStyle/>
          <a:p>
            <a:pPr>
              <a:buFont typeface="Wingdings" panose="05000000000000000000" pitchFamily="2" charset="2"/>
              <a:buChar char="Ø"/>
            </a:pPr>
            <a:r>
              <a:rPr lang="en-US" sz="1600" dirty="0" smtClean="0"/>
              <a:t>AWS offers simple storage service(S3) for object storage.</a:t>
            </a:r>
          </a:p>
          <a:p>
            <a:pPr>
              <a:buFont typeface="Wingdings" panose="05000000000000000000" pitchFamily="2" charset="2"/>
              <a:buChar char="Ø"/>
            </a:pPr>
            <a:r>
              <a:rPr lang="en-US" sz="1600" dirty="0" smtClean="0"/>
              <a:t>It has concept of bucket and objects, we can create buckets and upload our data in the form of objects. It supports data replication, versioning and encryption.</a:t>
            </a:r>
          </a:p>
          <a:p>
            <a:pPr>
              <a:buFont typeface="Wingdings" panose="05000000000000000000" pitchFamily="2" charset="2"/>
              <a:buChar char="Ø"/>
            </a:pPr>
            <a:r>
              <a:rPr lang="en-US" sz="1600" dirty="0" smtClean="0"/>
              <a:t>We can configure ACL to restrict access to our data.</a:t>
            </a:r>
          </a:p>
          <a:p>
            <a:pPr>
              <a:buFont typeface="Wingdings" panose="05000000000000000000" pitchFamily="2" charset="2"/>
              <a:buChar char="Ø"/>
            </a:pPr>
            <a:r>
              <a:rPr lang="en-US" sz="1600" dirty="0" smtClean="0"/>
              <a:t>There are 6 types of Storage classes in S3</a:t>
            </a:r>
          </a:p>
          <a:p>
            <a:pPr marL="342900" indent="-342900">
              <a:buFont typeface="+mj-lt"/>
              <a:buAutoNum type="arabicPeriod"/>
            </a:pPr>
            <a:r>
              <a:rPr lang="en-US" sz="1600" dirty="0" smtClean="0"/>
              <a:t>S3 Standard</a:t>
            </a:r>
          </a:p>
          <a:p>
            <a:pPr marL="342900" indent="-342900">
              <a:buFont typeface="+mj-lt"/>
              <a:buAutoNum type="arabicPeriod"/>
            </a:pPr>
            <a:r>
              <a:rPr lang="en-US" sz="1600" dirty="0" smtClean="0"/>
              <a:t>Intelligent Tiering</a:t>
            </a:r>
          </a:p>
          <a:p>
            <a:pPr marL="342900" indent="-342900">
              <a:buFont typeface="+mj-lt"/>
              <a:buAutoNum type="arabicPeriod"/>
            </a:pPr>
            <a:r>
              <a:rPr lang="en-US" sz="1600" dirty="0" smtClean="0"/>
              <a:t>Standard IA</a:t>
            </a:r>
          </a:p>
          <a:p>
            <a:pPr marL="342900" indent="-342900">
              <a:buFont typeface="+mj-lt"/>
              <a:buAutoNum type="arabicPeriod"/>
            </a:pPr>
            <a:r>
              <a:rPr lang="en-US" sz="1600" dirty="0" smtClean="0"/>
              <a:t>One Zone-IA</a:t>
            </a:r>
          </a:p>
          <a:p>
            <a:pPr marL="342900" indent="-342900">
              <a:buFont typeface="+mj-lt"/>
              <a:buAutoNum type="arabicPeriod"/>
            </a:pPr>
            <a:r>
              <a:rPr lang="en-US" sz="1600" dirty="0" smtClean="0"/>
              <a:t>S3 Glacier</a:t>
            </a:r>
          </a:p>
          <a:p>
            <a:pPr marL="342900" indent="-342900">
              <a:buFont typeface="+mj-lt"/>
              <a:buAutoNum type="arabicPeriod"/>
            </a:pPr>
            <a:r>
              <a:rPr lang="en-US" sz="1600" dirty="0" smtClean="0"/>
              <a:t>Glacier Deep Archive</a:t>
            </a:r>
          </a:p>
          <a:p>
            <a:pPr>
              <a:buFont typeface="Wingdings" panose="05000000000000000000" pitchFamily="2" charset="2"/>
              <a:buChar char="Ø"/>
            </a:pPr>
            <a:r>
              <a:rPr lang="en-US" sz="1600" dirty="0" smtClean="0"/>
              <a:t>We can create lifecycle policies for transition, archive or delete objects after specific period of time.</a:t>
            </a:r>
          </a:p>
          <a:p>
            <a:pPr marL="342900" indent="-342900">
              <a:buFont typeface="+mj-lt"/>
              <a:buAutoNum type="arabicPeriod"/>
            </a:pPr>
            <a:endParaRPr lang="en-US" sz="1600" dirty="0"/>
          </a:p>
        </p:txBody>
      </p:sp>
      <p:sp>
        <p:nvSpPr>
          <p:cNvPr id="6" name="Content Placeholder 5"/>
          <p:cNvSpPr>
            <a:spLocks noGrp="1"/>
          </p:cNvSpPr>
          <p:nvPr>
            <p:ph sz="quarter" idx="4"/>
          </p:nvPr>
        </p:nvSpPr>
        <p:spPr>
          <a:xfrm>
            <a:off x="4676179" y="2362200"/>
            <a:ext cx="3887391" cy="3684588"/>
          </a:xfrm>
        </p:spPr>
        <p:txBody>
          <a:bodyPr>
            <a:normAutofit/>
          </a:bodyPr>
          <a:lstStyle/>
          <a:p>
            <a:pPr>
              <a:buFont typeface="Wingdings" panose="05000000000000000000" pitchFamily="2" charset="2"/>
              <a:buChar char="Ø"/>
            </a:pPr>
            <a:r>
              <a:rPr lang="en-US" sz="1600" dirty="0" smtClean="0"/>
              <a:t>Google cloud offers Cloud Storage for object storage.</a:t>
            </a:r>
          </a:p>
          <a:p>
            <a:pPr>
              <a:buFont typeface="Wingdings" panose="05000000000000000000" pitchFamily="2" charset="2"/>
              <a:buChar char="Ø"/>
            </a:pPr>
            <a:r>
              <a:rPr lang="en-US" sz="1600" dirty="0" smtClean="0"/>
              <a:t>It has similar concepts as AWS S3, here also we can create buckets and objects. Supports versioning and encryption. We can also configure ACL.</a:t>
            </a:r>
          </a:p>
          <a:p>
            <a:pPr>
              <a:buFont typeface="Wingdings" panose="05000000000000000000" pitchFamily="2" charset="2"/>
              <a:buChar char="Ø"/>
            </a:pPr>
            <a:r>
              <a:rPr lang="en-US" sz="1600" dirty="0" smtClean="0"/>
              <a:t>There are 4 types of storage classes in cloud storage</a:t>
            </a:r>
          </a:p>
          <a:p>
            <a:pPr marL="342900" indent="-342900">
              <a:buFont typeface="+mj-lt"/>
              <a:buAutoNum type="arabicPeriod"/>
            </a:pPr>
            <a:r>
              <a:rPr lang="en-US" sz="1600" dirty="0" smtClean="0"/>
              <a:t>Standard Storage</a:t>
            </a:r>
          </a:p>
          <a:p>
            <a:pPr marL="342900" indent="-342900">
              <a:buFont typeface="+mj-lt"/>
              <a:buAutoNum type="arabicPeriod"/>
            </a:pPr>
            <a:r>
              <a:rPr lang="en-US" sz="1600" dirty="0" smtClean="0"/>
              <a:t>Nearline Storage</a:t>
            </a:r>
          </a:p>
          <a:p>
            <a:pPr marL="342900" indent="-342900">
              <a:buFont typeface="+mj-lt"/>
              <a:buAutoNum type="arabicPeriod"/>
            </a:pPr>
            <a:r>
              <a:rPr lang="en-US" sz="1600" dirty="0" smtClean="0"/>
              <a:t>Coldline Storage</a:t>
            </a:r>
          </a:p>
          <a:p>
            <a:pPr marL="342900" indent="-342900">
              <a:buFont typeface="+mj-lt"/>
              <a:buAutoNum type="arabicPeriod"/>
            </a:pPr>
            <a:r>
              <a:rPr lang="en-US" sz="1600" dirty="0" smtClean="0"/>
              <a:t>Archive</a:t>
            </a:r>
          </a:p>
        </p:txBody>
      </p:sp>
      <p:pic>
        <p:nvPicPr>
          <p:cNvPr id="1026" name="Picture 2" descr="C:\Users\DELL\Downloads\awsS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685800"/>
            <a:ext cx="2543174"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DELL\Downloads\google-cloud-storag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628650"/>
            <a:ext cx="2571750" cy="158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2517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7886700" cy="381000"/>
          </a:xfrm>
        </p:spPr>
        <p:txBody>
          <a:bodyPr>
            <a:normAutofit fontScale="90000"/>
          </a:bodyPr>
          <a:lstStyle/>
          <a:p>
            <a:r>
              <a:rPr lang="en-US" b="1" dirty="0" smtClean="0"/>
              <a:t>Database Services</a:t>
            </a:r>
            <a:endParaRPr lang="en-US" b="1" dirty="0"/>
          </a:p>
        </p:txBody>
      </p:sp>
      <p:sp>
        <p:nvSpPr>
          <p:cNvPr id="4" name="Content Placeholder 3"/>
          <p:cNvSpPr>
            <a:spLocks noGrp="1"/>
          </p:cNvSpPr>
          <p:nvPr>
            <p:ph sz="half" idx="2"/>
          </p:nvPr>
        </p:nvSpPr>
        <p:spPr>
          <a:xfrm>
            <a:off x="457200" y="2514600"/>
            <a:ext cx="3868340" cy="3684588"/>
          </a:xfrm>
        </p:spPr>
        <p:txBody>
          <a:bodyPr>
            <a:normAutofit/>
          </a:bodyPr>
          <a:lstStyle/>
          <a:p>
            <a:pPr>
              <a:buFont typeface="Wingdings" panose="05000000000000000000" pitchFamily="2" charset="2"/>
              <a:buChar char="Ø"/>
            </a:pPr>
            <a:r>
              <a:rPr lang="en-US" sz="1600" dirty="0" smtClean="0"/>
              <a:t>AWS offers Amazon Relational Database Service for Database.</a:t>
            </a:r>
          </a:p>
          <a:p>
            <a:pPr>
              <a:buFont typeface="Wingdings" panose="05000000000000000000" pitchFamily="2" charset="2"/>
              <a:buChar char="Ø"/>
            </a:pPr>
            <a:r>
              <a:rPr lang="en-US" sz="1600" dirty="0" smtClean="0"/>
              <a:t>RDS supports 6 database engines – Postgres, MySQL, MariaDB, Oracle, Microsoft SQL Server, Aurora.</a:t>
            </a:r>
          </a:p>
          <a:p>
            <a:pPr>
              <a:buFont typeface="Wingdings" panose="05000000000000000000" pitchFamily="2" charset="2"/>
              <a:buChar char="Ø"/>
            </a:pPr>
            <a:r>
              <a:rPr lang="en-US" sz="1600" dirty="0" smtClean="0"/>
              <a:t>It has feature of automated backups there are daily full backup, read replicas for read performance.</a:t>
            </a:r>
          </a:p>
          <a:p>
            <a:pPr>
              <a:buFont typeface="Wingdings" panose="05000000000000000000" pitchFamily="2" charset="2"/>
              <a:buChar char="Ø"/>
            </a:pPr>
            <a:r>
              <a:rPr lang="en-US" sz="1600" dirty="0" smtClean="0"/>
              <a:t>We can create 5 read replicas within AZ, cross AZ or cross region.</a:t>
            </a:r>
          </a:p>
        </p:txBody>
      </p:sp>
      <p:sp>
        <p:nvSpPr>
          <p:cNvPr id="6" name="Content Placeholder 5"/>
          <p:cNvSpPr>
            <a:spLocks noGrp="1"/>
          </p:cNvSpPr>
          <p:nvPr>
            <p:ph sz="quarter" idx="4"/>
          </p:nvPr>
        </p:nvSpPr>
        <p:spPr/>
        <p:txBody>
          <a:bodyPr>
            <a:normAutofit/>
          </a:bodyPr>
          <a:lstStyle/>
          <a:p>
            <a:pPr>
              <a:buFont typeface="Wingdings" panose="05000000000000000000" pitchFamily="2" charset="2"/>
              <a:buChar char="Ø"/>
            </a:pPr>
            <a:r>
              <a:rPr lang="en-US" sz="1600" dirty="0" smtClean="0"/>
              <a:t>GCP offers Cloud SQL service for Database.</a:t>
            </a:r>
          </a:p>
          <a:p>
            <a:pPr>
              <a:buFont typeface="Wingdings" panose="05000000000000000000" pitchFamily="2" charset="2"/>
              <a:buChar char="Ø"/>
            </a:pPr>
            <a:r>
              <a:rPr lang="en-US" sz="1600" dirty="0" smtClean="0"/>
              <a:t>Cloud SQL supports 3 database engines – MySQL, PostgreSQL, SQL Server.</a:t>
            </a:r>
          </a:p>
          <a:p>
            <a:pPr>
              <a:buFont typeface="Wingdings" panose="05000000000000000000" pitchFamily="2" charset="2"/>
              <a:buChar char="Ø"/>
            </a:pPr>
            <a:r>
              <a:rPr lang="en-US" sz="1600" dirty="0" smtClean="0"/>
              <a:t>It also supports the feature of automated backups and read replicas for read performance.</a:t>
            </a:r>
          </a:p>
          <a:p>
            <a:pPr>
              <a:buFont typeface="Wingdings" panose="05000000000000000000" pitchFamily="2" charset="2"/>
              <a:buChar char="Ø"/>
            </a:pPr>
            <a:r>
              <a:rPr lang="en-US" sz="1600" dirty="0" smtClean="0"/>
              <a:t>For MySQL we can create failover replica to create HA environment. In case of </a:t>
            </a:r>
            <a:r>
              <a:rPr lang="en-US" sz="1600" dirty="0" smtClean="0"/>
              <a:t>PostgreSQL </a:t>
            </a:r>
            <a:r>
              <a:rPr lang="en-US" sz="1600" dirty="0" smtClean="0"/>
              <a:t>we can create failover replica, we have to enable HA option in configurations.</a:t>
            </a:r>
          </a:p>
        </p:txBody>
      </p:sp>
      <p:pic>
        <p:nvPicPr>
          <p:cNvPr id="2051" name="Picture 3" descr="C:\Users\DELL\Downloads\RD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728472"/>
            <a:ext cx="2705100" cy="16859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DELL\Downloads\Cloudsq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728472"/>
            <a:ext cx="3586163" cy="1557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398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609600" y="304800"/>
            <a:ext cx="7924800" cy="304800"/>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AWS VPC</a:t>
            </a:r>
            <a:endParaRPr lang="en-US" dirty="0"/>
          </a:p>
        </p:txBody>
      </p:sp>
      <p:pic>
        <p:nvPicPr>
          <p:cNvPr id="3074" name="Picture 2" descr="C:\Users\DELL\Downloads\AWSVP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1" y="990600"/>
            <a:ext cx="78486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5081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DELL\Downloads\Google-Cloud-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1" y="838200"/>
            <a:ext cx="8686800" cy="5181600"/>
          </a:xfrm>
          <a:prstGeom prst="rect">
            <a:avLst/>
          </a:prstGeom>
          <a:noFill/>
          <a:extLst>
            <a:ext uri="{909E8E84-426E-40DD-AFC4-6F175D3DCCD1}">
              <a14:hiddenFill xmlns:a14="http://schemas.microsoft.com/office/drawing/2010/main">
                <a:solidFill>
                  <a:srgbClr val="FFFFFF"/>
                </a:solidFill>
              </a14:hiddenFill>
            </a:ext>
          </a:extLst>
        </p:spPr>
      </p:pic>
      <p:sp>
        <p:nvSpPr>
          <p:cNvPr id="2" name="Rounded Rectangle 1"/>
          <p:cNvSpPr/>
          <p:nvPr/>
        </p:nvSpPr>
        <p:spPr>
          <a:xfrm>
            <a:off x="914400" y="152400"/>
            <a:ext cx="7543800" cy="381000"/>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GCP VPC</a:t>
            </a:r>
            <a:endParaRPr lang="en-US" dirty="0"/>
          </a:p>
        </p:txBody>
      </p:sp>
    </p:spTree>
    <p:extLst>
      <p:ext uri="{BB962C8B-B14F-4D97-AF65-F5344CB8AC3E}">
        <p14:creationId xmlns:p14="http://schemas.microsoft.com/office/powerpoint/2010/main" val="20672668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1"/>
            <a:ext cx="7886700" cy="457199"/>
          </a:xfrm>
        </p:spPr>
        <p:txBody>
          <a:bodyPr>
            <a:normAutofit fontScale="90000"/>
          </a:bodyPr>
          <a:lstStyle/>
          <a:p>
            <a:r>
              <a:rPr lang="en-US" b="1" dirty="0" smtClean="0"/>
              <a:t>Virtual Private Cloud</a:t>
            </a:r>
            <a:endParaRPr lang="en-US" b="1" dirty="0"/>
          </a:p>
        </p:txBody>
      </p:sp>
      <p:sp>
        <p:nvSpPr>
          <p:cNvPr id="4" name="Content Placeholder 3"/>
          <p:cNvSpPr>
            <a:spLocks noGrp="1"/>
          </p:cNvSpPr>
          <p:nvPr>
            <p:ph sz="half" idx="2"/>
          </p:nvPr>
        </p:nvSpPr>
        <p:spPr>
          <a:xfrm>
            <a:off x="457200" y="3657600"/>
            <a:ext cx="3868340" cy="2541588"/>
          </a:xfrm>
        </p:spPr>
        <p:txBody>
          <a:bodyPr>
            <a:normAutofit/>
          </a:bodyPr>
          <a:lstStyle/>
          <a:p>
            <a:pPr>
              <a:buFont typeface="Wingdings" panose="05000000000000000000" pitchFamily="2" charset="2"/>
              <a:buChar char="Ø"/>
            </a:pPr>
            <a:r>
              <a:rPr lang="en-US" sz="1600" dirty="0" smtClean="0"/>
              <a:t>For AWS VPC is a regional service.</a:t>
            </a:r>
          </a:p>
          <a:p>
            <a:pPr>
              <a:buFont typeface="Wingdings" panose="05000000000000000000" pitchFamily="2" charset="2"/>
              <a:buChar char="Ø"/>
            </a:pPr>
            <a:r>
              <a:rPr lang="en-US" sz="1600" dirty="0" smtClean="0"/>
              <a:t>We can create 5 VPC’s per region.</a:t>
            </a:r>
          </a:p>
          <a:p>
            <a:pPr>
              <a:buFont typeface="Wingdings" panose="05000000000000000000" pitchFamily="2" charset="2"/>
              <a:buChar char="Ø"/>
            </a:pPr>
            <a:r>
              <a:rPr lang="en-US" sz="1600" dirty="0" smtClean="0"/>
              <a:t>Subnets are spread across AZ’s.</a:t>
            </a:r>
          </a:p>
          <a:p>
            <a:pPr>
              <a:buFont typeface="Wingdings" panose="05000000000000000000" pitchFamily="2" charset="2"/>
              <a:buChar char="Ø"/>
            </a:pPr>
            <a:r>
              <a:rPr lang="en-US" sz="1600" dirty="0" smtClean="0"/>
              <a:t>NACL and Security are global.</a:t>
            </a:r>
            <a:endParaRPr lang="en-US" sz="1600" dirty="0"/>
          </a:p>
        </p:txBody>
      </p:sp>
      <p:sp>
        <p:nvSpPr>
          <p:cNvPr id="6" name="Content Placeholder 5"/>
          <p:cNvSpPr>
            <a:spLocks noGrp="1"/>
          </p:cNvSpPr>
          <p:nvPr>
            <p:ph sz="quarter" idx="4"/>
          </p:nvPr>
        </p:nvSpPr>
        <p:spPr>
          <a:xfrm>
            <a:off x="4800003" y="3657600"/>
            <a:ext cx="3887391" cy="2151062"/>
          </a:xfrm>
        </p:spPr>
        <p:txBody>
          <a:bodyPr>
            <a:normAutofit/>
          </a:bodyPr>
          <a:lstStyle/>
          <a:p>
            <a:pPr>
              <a:buFont typeface="Wingdings" panose="05000000000000000000" pitchFamily="2" charset="2"/>
              <a:buChar char="Ø"/>
            </a:pPr>
            <a:r>
              <a:rPr lang="en-US" sz="1600" dirty="0" smtClean="0"/>
              <a:t>In Google cloud VPC is a global service.</a:t>
            </a:r>
          </a:p>
          <a:p>
            <a:pPr>
              <a:buFont typeface="Wingdings" panose="05000000000000000000" pitchFamily="2" charset="2"/>
              <a:buChar char="Ø"/>
            </a:pPr>
            <a:r>
              <a:rPr lang="en-US" sz="1600" dirty="0" smtClean="0"/>
              <a:t>We can create 15 VPC’s per project.</a:t>
            </a:r>
          </a:p>
          <a:p>
            <a:pPr>
              <a:buFont typeface="Wingdings" panose="05000000000000000000" pitchFamily="2" charset="2"/>
              <a:buChar char="Ø"/>
            </a:pPr>
            <a:r>
              <a:rPr lang="en-US" sz="1600" dirty="0" smtClean="0"/>
              <a:t>GCP offers 3 types of VPC’s:- Default, Automatic and Custom</a:t>
            </a:r>
          </a:p>
          <a:p>
            <a:pPr>
              <a:buFont typeface="Wingdings" panose="05000000000000000000" pitchFamily="2" charset="2"/>
              <a:buChar char="Ø"/>
            </a:pPr>
            <a:r>
              <a:rPr lang="en-US" sz="1600" dirty="0" smtClean="0"/>
              <a:t>Subnets are in regions</a:t>
            </a:r>
            <a:r>
              <a:rPr lang="en-US" dirty="0" smtClean="0"/>
              <a:t>.</a:t>
            </a:r>
            <a:endParaRPr lang="en-US" dirty="0"/>
          </a:p>
          <a:p>
            <a:pPr>
              <a:buFont typeface="Wingdings" panose="05000000000000000000" pitchFamily="2" charset="2"/>
              <a:buChar char="Ø"/>
            </a:pPr>
            <a:r>
              <a:rPr lang="en-US" sz="1600" dirty="0" smtClean="0"/>
              <a:t>Firewall rules are global</a:t>
            </a:r>
          </a:p>
        </p:txBody>
      </p:sp>
      <p:pic>
        <p:nvPicPr>
          <p:cNvPr id="5123" name="Picture 3" descr="C:\Users\DELL\Downloads\aws-vp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762000"/>
            <a:ext cx="2971800" cy="25146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DELL\Downloads\gcp-vp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685800"/>
            <a:ext cx="2819399"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4886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85800" y="1981200"/>
            <a:ext cx="7886700" cy="1311274"/>
          </a:xfrm>
        </p:spPr>
        <p:txBody>
          <a:bodyPr/>
          <a:lstStyle/>
          <a:p>
            <a:r>
              <a:rPr lang="en-US" dirty="0" smtClean="0"/>
              <a:t>			</a:t>
            </a:r>
            <a:endParaRPr lang="en-US" dirty="0"/>
          </a:p>
        </p:txBody>
      </p:sp>
      <p:pic>
        <p:nvPicPr>
          <p:cNvPr id="6146" name="Picture 2" descr="C:\Users\DELL\Downloads\thankyou.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9144000" cy="495299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1981200" y="3124200"/>
            <a:ext cx="4953000" cy="1446550"/>
          </a:xfrm>
          <a:prstGeom prst="rect">
            <a:avLst/>
          </a:prstGeom>
          <a:noFill/>
        </p:spPr>
        <p:txBody>
          <a:bodyPr wrap="square" rtlCol="0">
            <a:spAutoFit/>
          </a:bodyPr>
          <a:lstStyle/>
          <a:p>
            <a:r>
              <a:rPr lang="en-US" sz="8800" dirty="0" smtClean="0"/>
              <a:t>Thank You</a:t>
            </a:r>
            <a:endParaRPr lang="en-US" sz="8800" dirty="0"/>
          </a:p>
        </p:txBody>
      </p:sp>
    </p:spTree>
    <p:extLst>
      <p:ext uri="{BB962C8B-B14F-4D97-AF65-F5344CB8AC3E}">
        <p14:creationId xmlns:p14="http://schemas.microsoft.com/office/powerpoint/2010/main" val="67836799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863</TotalTime>
  <Words>982</Words>
  <Application>Microsoft Office PowerPoint</Application>
  <PresentationFormat>On-screen Show (4:3)</PresentationFormat>
  <Paragraphs>102</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1_Office Theme</vt:lpstr>
      <vt:lpstr>  This presentation equips professionals familiar with Amazon Web Services (AWS) with the key concepts required to get started with Google Cloud. The presentation compares Google Cloud with AWS and highlights the similarities and differences between the two. In addition,  presentation provides mappings of AWS concepts and terminology to the corresponding products, concepts, and terminology on Google Cloud.  </vt:lpstr>
      <vt:lpstr>PowerPoint Presentation</vt:lpstr>
      <vt:lpstr>PowerPoint Presentation</vt:lpstr>
      <vt:lpstr>PowerPoint Presentation</vt:lpstr>
      <vt:lpstr>PowerPoint Presentation</vt:lpstr>
      <vt:lpstr>Identity And Access Management</vt:lpstr>
      <vt:lpstr>Compute Services</vt:lpstr>
      <vt:lpstr>Load Balancing</vt:lpstr>
      <vt:lpstr>Autoscaling Services</vt:lpstr>
      <vt:lpstr>Block Storage</vt:lpstr>
      <vt:lpstr>Object Storage</vt:lpstr>
      <vt:lpstr>Database Services</vt:lpstr>
      <vt:lpstr>PowerPoint Presentation</vt:lpstr>
      <vt:lpstr>PowerPoint Presentation</vt:lpstr>
      <vt:lpstr>Virtual Private Cloud</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This presentation equips professionals familiar with Amazon Web Services (AWS) with the key concepts required to get started with Google Cloud. The presentation compares Google Cloud with AWS and highlights the similarities and differences between the two. In addition,  presentation provides mappings of AWS concepts and terminology to the corresponding products, concepts, and terminology on Google Cloud.  </dc:title>
  <dc:creator>DELL</dc:creator>
  <cp:lastModifiedBy>DELL</cp:lastModifiedBy>
  <cp:revision>62</cp:revision>
  <dcterms:created xsi:type="dcterms:W3CDTF">2021-11-18T05:33:08Z</dcterms:created>
  <dcterms:modified xsi:type="dcterms:W3CDTF">2021-11-19T08:16:43Z</dcterms:modified>
</cp:coreProperties>
</file>